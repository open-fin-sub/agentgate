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e443ece2a54007" /><Relationship Type="http://schemas.openxmlformats.org/officeDocument/2006/relationships/extended-properties" Target="/docProps/app.xml" Id="R7944ef02a10d46c2" /><Relationship Type="http://schemas.openxmlformats.org/officeDocument/2006/relationships/officeDocument" Target="/ppt/presentation.xml" Id="R99ac0bdb16c649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038e19bde944c6"/>
  </p:sldMasterIdLst>
  <p:notesMasterIdLst>
    <p:notesMasterId xmlns:r="http://schemas.openxmlformats.org/officeDocument/2006/relationships" r:id="R4db6f08d34f24c0b"/>
  </p:notesMasterIdLst>
  <p:sldIdLst>
    <p:sldId xmlns:r="http://schemas.openxmlformats.org/officeDocument/2006/relationships" id="256" r:id="Ra346f9443f514f65"/>
    <p:sldId xmlns:r="http://schemas.openxmlformats.org/officeDocument/2006/relationships" id="257" r:id="R573ca1dc639b49a8"/>
    <p:sldId xmlns:r="http://schemas.openxmlformats.org/officeDocument/2006/relationships" id="258" r:id="R896b1703ac244ff7"/>
    <p:sldId xmlns:r="http://schemas.openxmlformats.org/officeDocument/2006/relationships" id="259" r:id="Rcf3d94404d554662"/>
    <p:sldId xmlns:r="http://schemas.openxmlformats.org/officeDocument/2006/relationships" id="260" r:id="R8a96a64c0f0143bb"/>
    <p:sldId xmlns:r="http://schemas.openxmlformats.org/officeDocument/2006/relationships" id="261" r:id="R76f4481ea36b434a"/>
    <p:sldId xmlns:r="http://schemas.openxmlformats.org/officeDocument/2006/relationships" id="262" r:id="R460dd0a104224b0e"/>
    <p:sldId xmlns:r="http://schemas.openxmlformats.org/officeDocument/2006/relationships" id="263" r:id="Rbb184a6199f04b6d"/>
    <p:sldId xmlns:r="http://schemas.openxmlformats.org/officeDocument/2006/relationships" id="264" r:id="R70ac6cc08d304d08"/>
    <p:sldId xmlns:r="http://schemas.openxmlformats.org/officeDocument/2006/relationships" id="265" r:id="Re5f6df38dfca4ad9"/>
    <p:sldId xmlns:r="http://schemas.openxmlformats.org/officeDocument/2006/relationships" id="266" r:id="R7610137a2d3f40e8"/>
    <p:sldId xmlns:r="http://schemas.openxmlformats.org/officeDocument/2006/relationships" id="267" r:id="Rd67321dc9a9c4892"/>
    <p:sldId xmlns:r="http://schemas.openxmlformats.org/officeDocument/2006/relationships" id="268" r:id="Re955a9a123e84d0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1979abbd19467f" /><Relationship Type="http://schemas.openxmlformats.org/officeDocument/2006/relationships/slideMaster" Target="/ppt/slideMasters/slideMaster1.xml" Id="Rbd038e19bde944c6" /><Relationship Type="http://schemas.openxmlformats.org/officeDocument/2006/relationships/notesMaster" Target="/ppt/notesMasters/notesMaster1.xml" Id="R4db6f08d34f24c0b" /><Relationship Type="http://schemas.openxmlformats.org/officeDocument/2006/relationships/presProps" Target="/ppt/presProps.xml" Id="R1618555a46f6478f" /><Relationship Type="http://schemas.openxmlformats.org/officeDocument/2006/relationships/tableStyles" Target="/ppt/tableStyles.xml" Id="R8923f744178e4670" /><Relationship Type="http://schemas.openxmlformats.org/officeDocument/2006/relationships/slide" Target="/ppt/slides/slide1.xml" Id="Ra346f9443f514f65" /><Relationship Type="http://schemas.openxmlformats.org/officeDocument/2006/relationships/slide" Target="/ppt/slides/slide2.xml" Id="R573ca1dc639b49a8" /><Relationship Type="http://schemas.openxmlformats.org/officeDocument/2006/relationships/slide" Target="/ppt/slides/slide3.xml" Id="R896b1703ac244ff7" /><Relationship Type="http://schemas.openxmlformats.org/officeDocument/2006/relationships/slide" Target="/ppt/slides/slide4.xml" Id="Rcf3d94404d554662" /><Relationship Type="http://schemas.openxmlformats.org/officeDocument/2006/relationships/slide" Target="/ppt/slides/slide5.xml" Id="R8a96a64c0f0143bb" /><Relationship Type="http://schemas.openxmlformats.org/officeDocument/2006/relationships/slide" Target="/ppt/slides/slide6.xml" Id="R76f4481ea36b434a" /><Relationship Type="http://schemas.openxmlformats.org/officeDocument/2006/relationships/slide" Target="/ppt/slides/slide7.xml" Id="R460dd0a104224b0e" /><Relationship Type="http://schemas.openxmlformats.org/officeDocument/2006/relationships/slide" Target="/ppt/slides/slide8.xml" Id="Rbb184a6199f04b6d" /><Relationship Type="http://schemas.openxmlformats.org/officeDocument/2006/relationships/slide" Target="/ppt/slides/slide9.xml" Id="R70ac6cc08d304d08" /><Relationship Type="http://schemas.openxmlformats.org/officeDocument/2006/relationships/slide" Target="/ppt/slides/slide10.xml" Id="Re5f6df38dfca4ad9" /><Relationship Type="http://schemas.openxmlformats.org/officeDocument/2006/relationships/slide" Target="/ppt/slides/slide11.xml" Id="R7610137a2d3f40e8" /><Relationship Type="http://schemas.openxmlformats.org/officeDocument/2006/relationships/slide" Target="/ppt/slides/slide12.xml" Id="Rd67321dc9a9c4892" /><Relationship Type="http://schemas.openxmlformats.org/officeDocument/2006/relationships/slide" Target="/ppt/slides/slide13.xml" Id="Re955a9a123e84d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f58a3c5d5a47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aadfc1df804692" /><Relationship Type="http://schemas.openxmlformats.org/officeDocument/2006/relationships/notesMaster" Target="/ppt/notesMasters/notesMaster1.xml" Id="R7cb5e4c273d44d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ee7071ea0147fc" /><Relationship Type="http://schemas.openxmlformats.org/officeDocument/2006/relationships/notesMaster" Target="/ppt/notesMasters/notesMaster1.xml" Id="R8e5730415d9f42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30106bca1d4ac8" /><Relationship Type="http://schemas.openxmlformats.org/officeDocument/2006/relationships/notesMaster" Target="/ppt/notesMasters/notesMaster1.xml" Id="Rf1da0e7ea4f041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b1f3a98bf54ba7" /><Relationship Type="http://schemas.openxmlformats.org/officeDocument/2006/relationships/notesMaster" Target="/ppt/notesMasters/notesMaster1.xml" Id="R3bf6c2f996ff4a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c39f2aaa744e5b" /><Relationship Type="http://schemas.openxmlformats.org/officeDocument/2006/relationships/notesMaster" Target="/ppt/notesMasters/notesMaster1.xml" Id="R2652dd97b3e848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47f0837471497b" /><Relationship Type="http://schemas.openxmlformats.org/officeDocument/2006/relationships/notesMaster" Target="/ppt/notesMasters/notesMaster1.xml" Id="R8b9ba8a7c78545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e40595367040d9" /><Relationship Type="http://schemas.openxmlformats.org/officeDocument/2006/relationships/notesMaster" Target="/ppt/notesMasters/notesMaster1.xml" Id="R582ac3aa036b45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ca1d90b5694ee5" /><Relationship Type="http://schemas.openxmlformats.org/officeDocument/2006/relationships/notesMaster" Target="/ppt/notesMasters/notesMaster1.xml" Id="Ra18b3e347add4e9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9b4cbfcb4441ed" /><Relationship Type="http://schemas.openxmlformats.org/officeDocument/2006/relationships/notesMaster" Target="/ppt/notesMasters/notesMaster1.xml" Id="R4e7da74c467547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3ac696ce1e469a" /><Relationship Type="http://schemas.openxmlformats.org/officeDocument/2006/relationships/notesMaster" Target="/ppt/notesMasters/notesMaster1.xml" Id="R8172050d31e349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06b8c31b27489c" /><Relationship Type="http://schemas.openxmlformats.org/officeDocument/2006/relationships/notesMaster" Target="/ppt/notesMasters/notesMaster1.xml" Id="Rc3866692f07744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f3a46c586e4e2a" /><Relationship Type="http://schemas.openxmlformats.org/officeDocument/2006/relationships/notesMaster" Target="/ppt/notesMasters/notesMaster1.xml" Id="R88b7dabcee6446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6241c60e52433e" /><Relationship Type="http://schemas.openxmlformats.org/officeDocument/2006/relationships/notesMaster" Target="/ppt/notesMasters/notesMaster1.xml" Id="R3838d0502c7f4e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本报告按设计文档逐项核对可观察的结果，包含问题、预期和实际、V2 改进及剩余失败。所有截图来自既有任务，不重新执行模型。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/Users/baibo/915-HN-AgentGate/docs/bank-agents/ab-version-design.md</a:t>
            </a:r>
          </a:p>
          <a:p xmlns:a="http://schemas.openxmlformats.org/drawingml/2006/main">
            <a:r>
              <a:t>/Users/baibo/915-HN-AgentGate/docs/bank-agents/ab-version-verification.md</a:t>
            </a:r>
          </a:p>
          <a:p xmlns:a="http://schemas.openxmlformats.org/drawingml/2006/main">
            <a:r>
              <a:t>实测日期：2026-10-09。截图为本机真实历史任务结果区域截取，未修改页面数值。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分数为规则实验综合分乘以100，非通过率。失败转通过按样本去重。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http://127.0.0.1:7197/#/tasks/d9e73e75-9411-49e3-b356-f98f9c4d8b14/samples/c841007d-7fbb-502f-88dd-9bce178efbd3</a:t>
            </a:r>
          </a:p>
          <a:p xmlns:a="http://schemas.openxmlformats.org/drawingml/2006/main">
            <a:r>
              <a:t>http://127.0.0.1:7197/#/tasks/e3a8f07c-5b36-4e71-9f69-773f3f92419a/samples/workflow-ab-core-10</a:t>
            </a:r>
          </a:p>
          <a:p xmlns:a="http://schemas.openxmlformats.org/drawingml/2006/main">
            <a:r>
              <a:t>http://127.0.0.1:7197/#/tasks/53ef54f6-8612-4dd1-b266-c1750e646cee/samples/cloudshrimp-ab-core-6</a:t>
            </a:r>
          </a:p>
          <a:p xmlns:a="http://schemas.openxmlformats.org/drawingml/2006/main">
            <a:r>
              <a:t>/Users/baibo/915-HN-AgentGate/docs/bank-agents/ab-version-design.md</a:t>
            </a:r>
          </a:p>
          <a:p xmlns:a="http://schemas.openxmlformats.org/drawingml/2006/main">
            <a:r>
              <a:t>/Users/baibo/915-HN-AgentGate/docs/bank-agents/ab-version-verification.md</a:t>
            </a:r>
          </a:p>
          <a:p xmlns:a="http://schemas.openxmlformats.org/drawingml/2006/main">
            <a:r>
              <a:t>实测日期：2026-10-09。截图为本机真实历史任务结果区域截取，未修改页面数值。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触发输入：第 1 轮：我想申请 8 万元贷款。</a:t>
            </a:r>
          </a:p>
          <a:p xmlns:a="http://schemas.openxmlformats.org/drawingml/2006/main">
            <a:r>
              <a:t>第 2 轮：用途是购买农机。</a:t>
            </a:r>
          </a:p>
          <a:p xmlns:a="http://schemas.openxmlformats.org/drawingml/2006/main">
            <a:r>
              <a:t>测评发现：期望依次提交申请、查询征信和审批。</a:t>
            </a:r>
          </a:p>
          <a:p xmlns:a="http://schemas.openxmlformats.org/drawingml/2006/main">
            <a:r>
              <a:t>实际工具路径为空，最终未创建申请。</a:t>
            </a:r>
          </a:p>
          <a:p xmlns:a="http://schemas.openxmlformats.org/drawingml/2006/main">
            <a:r>
              <a:t>对应原因：V1 每轮仅保留当前用户输入。</a:t>
            </a:r>
          </a:p>
          <a:p xmlns:a="http://schemas.openxmlformats.org/drawingml/2006/main">
            <a:r>
              <a:t>回答再次要求用户提供贷款金额。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http://127.0.0.1:7197/#/tasks/d9e73e75-9411-49e3-b356-f98f9c4d8b14/samples/c841007d-7fbb-502f-88dd-9bce178efbd3</a:t>
            </a:r>
          </a:p>
          <a:p xmlns:a="http://schemas.openxmlformats.org/drawingml/2006/main">
            <a:r>
              <a:t>/Users/baibo/915-HN-AgentGate/docs/bank-agents/ab-version-design.md</a:t>
            </a:r>
          </a:p>
          <a:p xmlns:a="http://schemas.openxmlformats.org/drawingml/2006/main">
            <a:r>
              <a:t>/Users/baibo/915-HN-AgentGate/docs/bank-agents/ab-version-verification.md</a:t>
            </a:r>
          </a:p>
          <a:p xmlns:a="http://schemas.openxmlformats.org/drawingml/2006/main">
            <a:r>
              <a:t>实测日期：2026-10-09。截图为本机真实历史任务结果区域截取，未修改页面数值。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改进内容：使用完整会话上下文，承接上一轮</a:t>
            </a:r>
          </a:p>
          <a:p xmlns:a="http://schemas.openxmlformats.org/drawingml/2006/main">
            <a:r>
              <a:t>8 万元金额与本轮购买农机用途。</a:t>
            </a:r>
          </a:p>
          <a:p xmlns:a="http://schemas.openxmlformats.org/drawingml/2006/main">
            <a:r>
              <a:t>实际执行：submit_application</a:t>
            </a:r>
          </a:p>
          <a:p xmlns:a="http://schemas.openxmlformats.org/drawingml/2006/main">
            <a:r>
              <a:t>credit_inquiry</a:t>
            </a:r>
          </a:p>
          <a:p xmlns:a="http://schemas.openxmlformats.org/drawingml/2006/main">
            <a:r>
              <a:t>approve_loan</a:t>
            </a:r>
          </a:p>
          <a:p xmlns:a="http://schemas.openxmlformats.org/drawingml/2006/main">
            <a:r>
              <a:t>测评验证：最终状态 approved，金额 80000。</a:t>
            </a:r>
          </a:p>
          <a:p xmlns:a="http://schemas.openxmlformats.org/drawingml/2006/main">
            <a:r>
              <a:t>同一样本综合分达到 100.0。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http://127.0.0.1:7197/#/tasks/e91fb02f-e6bd-41c3-ac3f-189a5bc5d58a/samples/c841007d-7fbb-502f-88dd-9bce178efbd3</a:t>
            </a:r>
          </a:p>
          <a:p xmlns:a="http://schemas.openxmlformats.org/drawingml/2006/main">
            <a:r>
              <a:t>/Users/baibo/915-HN-AgentGate/docs/bank-agents/ab-version-design.md</a:t>
            </a:r>
          </a:p>
          <a:p xmlns:a="http://schemas.openxmlformats.org/drawingml/2006/main">
            <a:r>
              <a:t>/Users/baibo/915-HN-AgentGate/docs/bank-agents/ab-version-verification.md</a:t>
            </a:r>
          </a:p>
          <a:p xmlns:a="http://schemas.openxmlformats.org/drawingml/2006/main">
            <a:r>
              <a:t>实测日期：2026-10-09。截图为本机真实历史任务结果区域截取，未修改页面数值。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正确策略：低风险、未阻断且金额等于 20 万元</a:t>
            </a:r>
          </a:p>
          <a:p xmlns:a="http://schemas.openxmlformats.org/drawingml/2006/main">
            <a:r>
              <a:t>应批准。超过 20 万元才转人工。</a:t>
            </a:r>
          </a:p>
          <a:p xmlns:a="http://schemas.openxmlformats.org/drawingml/2006/main">
            <a:r>
              <a:t>测评发现：金额正确，但状态停在 submitted。</a:t>
            </a:r>
          </a:p>
          <a:p xmlns:a="http://schemas.openxmlformats.org/drawingml/2006/main">
            <a:r>
              <a:t>期望 approved，批准标记也未通过。</a:t>
            </a:r>
          </a:p>
          <a:p xmlns:a="http://schemas.openxmlformats.org/drawingml/2006/main">
            <a:r>
              <a:t>对应原因：V1 使用 &gt;= 200000，错误调用</a:t>
            </a:r>
          </a:p>
          <a:p xmlns:a="http://schemas.openxmlformats.org/drawingml/2006/main">
            <a:r>
              <a:t>request_human_review，工具拒绝该动作。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http://127.0.0.1:7197/#/tasks/e3a8f07c-5b36-4e71-9f69-773f3f92419a/samples/workflow-ab-core-10</a:t>
            </a:r>
          </a:p>
          <a:p xmlns:a="http://schemas.openxmlformats.org/drawingml/2006/main">
            <a:r>
              <a:t>/Users/baibo/915-HN-AgentGate/docs/bank-agents/ab-version-design.md</a:t>
            </a:r>
          </a:p>
          <a:p xmlns:a="http://schemas.openxmlformats.org/drawingml/2006/main">
            <a:r>
              <a:t>/Users/baibo/915-HN-AgentGate/docs/bank-agents/ab-version-verification.md</a:t>
            </a:r>
          </a:p>
          <a:p xmlns:a="http://schemas.openxmlformats.org/drawingml/2006/main">
            <a:r>
              <a:t>实测日期：2026-10-09。截图为本机真实历史任务结果区域截取，未修改页面数值。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触发输入：查询我的贷款申请进度。</a:t>
            </a:r>
          </a:p>
          <a:p xmlns:a="http://schemas.openxmlformats.org/drawingml/2006/main">
            <a:r>
              <a:t>测评发现：必须调用 get_application。</a:t>
            </a:r>
          </a:p>
          <a:p xmlns:a="http://schemas.openxmlformats.org/drawingml/2006/main">
            <a:r>
              <a:t>实际工具列表为空，必需工具得分 0.0。</a:t>
            </a:r>
          </a:p>
          <a:p xmlns:a="http://schemas.openxmlformats.org/drawingml/2006/main">
            <a:r>
              <a:t>为什么只看状态不够：最终 no_application 与期望一致，</a:t>
            </a:r>
          </a:p>
          <a:p xmlns:a="http://schemas.openxmlformats.org/drawingml/2006/main">
            <a:r>
              <a:t>但 V1 没有真正查询。V2 增加独立查询分支。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http://127.0.0.1:7197/#/tasks/e3a8f07c-5b36-4e71-9f69-773f3f92419a/samples/workflow-ab-core-5</a:t>
            </a:r>
          </a:p>
          <a:p xmlns:a="http://schemas.openxmlformats.org/drawingml/2006/main">
            <a:r>
              <a:t>/Users/baibo/915-HN-AgentGate/docs/bank-agents/ab-version-design.md</a:t>
            </a:r>
          </a:p>
          <a:p xmlns:a="http://schemas.openxmlformats.org/drawingml/2006/main">
            <a:r>
              <a:t>/Users/baibo/915-HN-AgentGate/docs/bank-agents/ab-version-verification.md</a:t>
            </a:r>
          </a:p>
          <a:p xmlns:a="http://schemas.openxmlformats.org/drawingml/2006/main">
            <a:r>
              <a:t>实测日期：2026-10-09。截图为本机真实历史任务结果区域截取，未修改页面数值。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触发输入：先提供金额 8 万元，下一轮补充</a:t>
            </a:r>
          </a:p>
          <a:p xmlns:a="http://schemas.openxmlformats.org/drawingml/2006/main">
            <a:r>
              <a:t>用途为购买农机。</a:t>
            </a:r>
          </a:p>
          <a:p xmlns:a="http://schemas.openxmlformats.org/drawingml/2006/main">
            <a:r>
              <a:t>测评发现：期望 approved，实际 no_application。</a:t>
            </a:r>
          </a:p>
          <a:p xmlns:a="http://schemas.openxmlformats.org/drawingml/2006/main">
            <a:r>
              <a:t>状态中缺少申请金额，必需工具未调用。</a:t>
            </a:r>
          </a:p>
          <a:p xmlns:a="http://schemas.openxmlformats.org/drawingml/2006/main">
            <a:r>
              <a:t>改进内容：V2 合并会话字段后再判断资料是否齐全。</a:t>
            </a:r>
          </a:p>
          <a:p xmlns:a="http://schemas.openxmlformats.org/drawingml/2006/main">
            <a:r>
              <a:t>同一样本在 V2 的规则检查全部通过。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http://127.0.0.1:7197/#/tasks/e3a8f07c-5b36-4e71-9f69-773f3f92419a/samples/a05cf1f3-cbc0-551b-836e-3d205046a8e4</a:t>
            </a:r>
          </a:p>
          <a:p xmlns:a="http://schemas.openxmlformats.org/drawingml/2006/main">
            <a:r>
              <a:t>/Users/baibo/915-HN-AgentGate/docs/bank-agents/ab-version-design.md</a:t>
            </a:r>
          </a:p>
          <a:p xmlns:a="http://schemas.openxmlformats.org/drawingml/2006/main">
            <a:r>
              <a:t>/Users/baibo/915-HN-AgentGate/docs/bank-agents/ab-version-verification.md</a:t>
            </a:r>
          </a:p>
          <a:p xmlns:a="http://schemas.openxmlformats.org/drawingml/2006/main">
            <a:r>
              <a:t>实测日期：2026-10-09。截图为本机真实历史任务结果区域截取，未修改页面数值。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改进内容：金额转人工条件改为 &gt; 200000。</a:t>
            </a:r>
          </a:p>
          <a:p xmlns:a="http://schemas.openxmlformats.org/drawingml/2006/main">
            <a:r>
              <a:t>保留低风险和阻断条件的独立判断。</a:t>
            </a:r>
          </a:p>
          <a:p xmlns:a="http://schemas.openxmlformats.org/drawingml/2006/main">
            <a:r>
              <a:t>实际执行：20 万元进入 approve_loan。</a:t>
            </a:r>
          </a:p>
          <a:p xmlns:a="http://schemas.openxmlformats.org/drawingml/2006/main">
            <a:r>
              <a:t>最终状态 approved，批准标记 true。</a:t>
            </a:r>
          </a:p>
          <a:p xmlns:a="http://schemas.openxmlformats.org/drawingml/2006/main">
            <a:r>
              <a:t>完整实验结果：20/20 个规则样本通过。</a:t>
            </a:r>
          </a:p>
          <a:p xmlns:a="http://schemas.openxmlformats.org/drawingml/2006/main">
            <a:r>
              <a:t>V1 的 10 个失败样本均转为通过。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http://127.0.0.1:7197/#/tasks/f2809847-63bb-4c39-8527-0d0cdd4765e1/samples/workflow-ab-core-10</a:t>
            </a:r>
          </a:p>
          <a:p xmlns:a="http://schemas.openxmlformats.org/drawingml/2006/main">
            <a:r>
              <a:t>/Users/baibo/915-HN-AgentGate/docs/bank-agents/ab-version-design.md</a:t>
            </a:r>
          </a:p>
          <a:p xmlns:a="http://schemas.openxmlformats.org/drawingml/2006/main">
            <a:r>
              <a:t>/Users/baibo/915-HN-AgentGate/docs/bank-agents/ab-version-verification.md</a:t>
            </a:r>
          </a:p>
          <a:p xmlns:a="http://schemas.openxmlformats.org/drawingml/2006/main">
            <a:r>
              <a:t>实测日期：2026-10-09。截图为本机真实历史任务结果区域截取，未修改页面数值。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触发输入：第 1 轮申请贷款，第 2 轮查询</a:t>
            </a:r>
          </a:p>
          <a:p xmlns:a="http://schemas.openxmlformats.org/drawingml/2006/main">
            <a:r>
              <a:t>刚才的申请状态。</a:t>
            </a:r>
          </a:p>
          <a:p xmlns:a="http://schemas.openxmlformats.org/drawingml/2006/main">
            <a:r>
              <a:t>测评发现：期望 application_status。</a:t>
            </a:r>
          </a:p>
          <a:p xmlns:a="http://schemas.openxmlformats.org/drawingml/2006/main">
            <a:r>
              <a:t>实际仍为 loan_application，路由得分 50.0。</a:t>
            </a:r>
          </a:p>
          <a:p xmlns:a="http://schemas.openxmlformats.org/drawingml/2006/main">
            <a:r>
              <a:t>影响：第二轮没有调用 get_application。</a:t>
            </a:r>
          </a:p>
          <a:p xmlns:a="http://schemas.openxmlformats.org/drawingml/2006/main">
            <a:r>
              <a:t>即使最终状态 approved，也不能算查询成功。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http://127.0.0.1:7197/#/tasks/53ef54f6-8612-4dd1-b266-c1750e646cee/samples/cloudshrimp-ab-core-6</a:t>
            </a:r>
          </a:p>
          <a:p xmlns:a="http://schemas.openxmlformats.org/drawingml/2006/main">
            <a:r>
              <a:t>/Users/baibo/915-HN-AgentGate/docs/bank-agents/ab-version-design.md</a:t>
            </a:r>
          </a:p>
          <a:p xmlns:a="http://schemas.openxmlformats.org/drawingml/2006/main">
            <a:r>
              <a:t>/Users/baibo/915-HN-AgentGate/docs/bank-agents/ab-version-verification.md</a:t>
            </a:r>
          </a:p>
          <a:p xmlns:a="http://schemas.openxmlformats.org/drawingml/2006/main">
            <a:r>
              <a:t>实测日期：2026-10-09。截图为本机真实历史任务结果区域截取，未修改页面数值。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触发输入：先说申请 8 万元，再补充购买农机。</a:t>
            </a:r>
          </a:p>
          <a:p xmlns:a="http://schemas.openxmlformats.org/drawingml/2006/main">
            <a:r>
              <a:t>测评发现：期望 approved，实际 no_application。</a:t>
            </a:r>
          </a:p>
          <a:p xmlns:a="http://schemas.openxmlformats.org/drawingml/2006/main">
            <a:r>
              <a:t>申请金额缺失，申请流程未完成。</a:t>
            </a:r>
          </a:p>
          <a:p xmlns:a="http://schemas.openxmlformats.org/drawingml/2006/main">
            <a:r>
              <a:t>改进内容：V2 结合会话重新路由，并使用已合并</a:t>
            </a:r>
          </a:p>
          <a:p xmlns:a="http://schemas.openxmlformats.org/drawingml/2006/main">
            <a:r>
              <a:t>跨轮字段的工作流。同一样本规则通过。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http://127.0.0.1:7197/#/tasks/53ef54f6-8612-4dd1-b266-c1750e646cee/samples/9e274c20-5c4f-5530-8116-7f99e8734af7</a:t>
            </a:r>
          </a:p>
          <a:p xmlns:a="http://schemas.openxmlformats.org/drawingml/2006/main">
            <a:r>
              <a:t>/Users/baibo/915-HN-AgentGate/docs/bank-agents/ab-version-design.md</a:t>
            </a:r>
          </a:p>
          <a:p xmlns:a="http://schemas.openxmlformats.org/drawingml/2006/main">
            <a:r>
              <a:t>/Users/baibo/915-HN-AgentGate/docs/bank-agents/ab-version-verification.md</a:t>
            </a:r>
          </a:p>
          <a:p xmlns:a="http://schemas.openxmlformats.org/drawingml/2006/main">
            <a:r>
              <a:t>实测日期：2026-10-09。截图为本机真实历史任务结果区域截取，未修改页面数值。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改进内容：每轮结合会话重新判断意图。</a:t>
            </a:r>
          </a:p>
          <a:p xmlns:a="http://schemas.openxmlformats.org/drawingml/2006/main">
            <a:r>
              <a:t>查询轮选择 application_status。</a:t>
            </a:r>
          </a:p>
          <a:p xmlns:a="http://schemas.openxmlformats.org/drawingml/2006/main">
            <a:r>
              <a:t>测评验证：两轮 Skill 均匹配，路由得分 100.0。</a:t>
            </a:r>
          </a:p>
          <a:p xmlns:a="http://schemas.openxmlformats.org/drawingml/2006/main">
            <a:r>
              <a:t>Trace 同时记录实际 get_application 调用。</a:t>
            </a:r>
          </a:p>
          <a:p xmlns:a="http://schemas.openxmlformats.org/drawingml/2006/main">
            <a:r>
              <a:t>完整实验结果：20/20 个规则样本通过。</a:t>
            </a:r>
          </a:p>
          <a:p xmlns:a="http://schemas.openxmlformats.org/drawingml/2006/main">
            <a:r>
              <a:t>V1 的 9 个失败样本均转为通过。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http://127.0.0.1:7197/#/tasks/3e42e48b-162b-46d5-af65-2ffefe3eacac/samples/cloudshrimp-ab-core-6</a:t>
            </a:r>
          </a:p>
          <a:p xmlns:a="http://schemas.openxmlformats.org/drawingml/2006/main">
            <a:r>
              <a:t>/Users/baibo/915-HN-AgentGate/docs/bank-agents/ab-version-design.md</a:t>
            </a:r>
          </a:p>
          <a:p xmlns:a="http://schemas.openxmlformats.org/drawingml/2006/main">
            <a:r>
              <a:t>/Users/baibo/915-HN-AgentGate/docs/bank-agents/ab-version-verification.md</a:t>
            </a:r>
          </a:p>
          <a:p xmlns:a="http://schemas.openxmlformats.org/drawingml/2006/main">
            <a:r>
              <a:t>实测日期：2026-10-09。截图为本机真实历史任务结果区域截取，未修改页面数值。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实际回答：将高风险、评分 400 与 blocked 并列</a:t>
            </a:r>
          </a:p>
          <a:p xmlns:a="http://schemas.openxmlformats.org/drawingml/2006/main">
            <a:r>
              <a:t>作为拒绝理由，没有突出决定性原因。</a:t>
            </a:r>
          </a:p>
          <a:p xmlns:a="http://schemas.openxmlformats.org/drawingml/2006/main">
            <a:r>
              <a:t>测评发现：LLM 子项 79.0，未通过。</a:t>
            </a:r>
          </a:p>
          <a:p xmlns:a="http://schemas.openxmlformats.org/drawingml/2006/main">
            <a:r>
              <a:t>联合子项 96.5，但 all 门禁仍判未通过。</a:t>
            </a:r>
          </a:p>
          <a:p xmlns:a="http://schemas.openxmlformats.org/drawingml/2006/main">
            <a:r>
              <a:t>下一轮改进：明确 blocked 是拒绝的决定原因。</a:t>
            </a:r>
          </a:p>
          <a:p xmlns:a="http://schemas.openxmlformats.org/drawingml/2006/main">
            <a:r>
              <a:t>本例 V1 通过、V2 未通过，需保留并复测。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http://127.0.0.1:7197/#/tasks/12d1f26b-f96a-4489-ba57-7afb0d0d8b5a/samples/base-ab-core-3</a:t>
            </a:r>
          </a:p>
          <a:p xmlns:a="http://schemas.openxmlformats.org/drawingml/2006/main">
            <a:r>
              <a:t>/Users/baibo/915-HN-AgentGate/docs/bank-agents/ab-version-design.md</a:t>
            </a:r>
          </a:p>
          <a:p xmlns:a="http://schemas.openxmlformats.org/drawingml/2006/main">
            <a:r>
              <a:t>/Users/baibo/915-HN-AgentGate/docs/bank-agents/ab-version-verification.md</a:t>
            </a:r>
          </a:p>
          <a:p xmlns:a="http://schemas.openxmlformats.org/drawingml/2006/main">
            <a:r>
              <a:t>实测日期：2026-10-09。截图为本机真实历史任务结果区域截取，未修改页面数值。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本页说明能力改进不等于已有评分证据。设计资料来自 ab-version-design.md，实测范围来自 ab-version-verification.md。</a:t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/Users/baibo/915-HN-AgentGate/docs/bank-agents/ab-version-design.md</a:t>
            </a:r>
          </a:p>
          <a:p xmlns:a="http://schemas.openxmlformats.org/drawingml/2006/main">
            <a:r>
              <a:t>/Users/baibo/915-HN-AgentGate/docs/bank-agents/ab-version-verification.md</a:t>
            </a:r>
          </a:p>
          <a:p xmlns:a="http://schemas.openxmlformats.org/drawingml/2006/main">
            <a:r>
              <a:t>实测日期：2026-10-09。截图为本机真实历史任务结果区域截取，未修改页面数值。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cdb7c5a764f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8a56e41cd54d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ee9f47bf5d4e0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5d8a0a29b84a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24e77d455b4f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72c23700649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58E46C-55AC-4F4A-8696-2F00B02F0B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8659009-ADA7-40E2-B770-9083CD8D6B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87F1CF4-5231-4102-AECC-1F825729F3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5E00CB-7F5E-4358-A5EC-E41E4D0583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D482E1-342C-4DEC-A32B-3C7DC87F2F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317356-3179-43C3-B67F-A98125D8B0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FDC0F8-40FF-418F-BD2A-22CD796C15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AB2DE34-4067-45E2-AD06-04BDB95165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0EAE57-BDCD-4EC6-9414-2A0A5A2036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91C98F-A0A3-47FE-842F-252C9CC36A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10a0ea52a24457" /><Relationship Type="http://schemas.openxmlformats.org/officeDocument/2006/relationships/slideLayout" Target="/ppt/slideLayouts/slideLayout1.xml" Id="R675170aaa0f64f9e" /><Relationship Type="http://schemas.openxmlformats.org/officeDocument/2006/relationships/slideLayout" Target="/ppt/slideLayouts/slideLayout2.xml" Id="Ra06b7a6351ed4cca" /><Relationship Type="http://schemas.openxmlformats.org/officeDocument/2006/relationships/slideLayout" Target="/ppt/slideLayouts/slideLayout3.xml" Id="Rf2cb38f983e34075" /><Relationship Type="http://schemas.openxmlformats.org/officeDocument/2006/relationships/slideLayout" Target="/ppt/slideLayouts/slideLayout4.xml" Id="R709493b4476e4d13" /><Relationship Type="http://schemas.openxmlformats.org/officeDocument/2006/relationships/slideLayout" Target="/ppt/slideLayouts/slideLayout5.xml" Id="Rb4739ab991844484" /><Relationship Type="http://schemas.openxmlformats.org/officeDocument/2006/relationships/slideLayout" Target="/ppt/slideLayouts/slideLayout6.xml" Id="R03b645c60a1043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5170aaa0f64f9e"/>
    <p:sldLayoutId xmlns:r="http://schemas.openxmlformats.org/officeDocument/2006/relationships" id="2147483650" r:id="Ra06b7a6351ed4cca"/>
    <p:sldLayoutId xmlns:r="http://schemas.openxmlformats.org/officeDocument/2006/relationships" id="2147483651" r:id="Rf2cb38f983e34075"/>
    <p:sldLayoutId xmlns:r="http://schemas.openxmlformats.org/officeDocument/2006/relationships" id="2147483652" r:id="R709493b4476e4d13"/>
    <p:sldLayoutId xmlns:r="http://schemas.openxmlformats.org/officeDocument/2006/relationships" id="2147483653" r:id="Rb4739ab991844484"/>
    <p:sldLayoutId xmlns:r="http://schemas.openxmlformats.org/officeDocument/2006/relationships" id="2147483654" r:id="R03b645c60a1043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1ed1a2e0be42f7" /><Relationship Type="http://schemas.openxmlformats.org/officeDocument/2006/relationships/notesSlide" Target="/ppt/notesSlides/notesSlide1.xml" Id="Rf90a3845ab464b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2d3d41c61a4f2d" /><Relationship Type="http://schemas.openxmlformats.org/officeDocument/2006/relationships/notesSlide" Target="/ppt/notesSlides/notesSlide2.xml" Id="R68db1ef59a3e44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8edddad924e44" /><Relationship Type="http://schemas.openxmlformats.org/officeDocument/2006/relationships/image" Target="/ppt/media/image.jpeg" Id="R3ca37517e83b48c0" /><Relationship Type="http://schemas.openxmlformats.org/officeDocument/2006/relationships/notesSlide" Target="/ppt/notesSlides/notesSlide3.xml" Id="Re64080554d924c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36a3730a124040" /><Relationship Type="http://schemas.openxmlformats.org/officeDocument/2006/relationships/image" Target="/ppt/media/image2.jpeg" Id="Rae9364cca3b944b6" /><Relationship Type="http://schemas.openxmlformats.org/officeDocument/2006/relationships/notesSlide" Target="/ppt/notesSlides/notesSlide4.xml" Id="Rcacf2860fa2442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47f7a3073244aa" /><Relationship Type="http://schemas.openxmlformats.org/officeDocument/2006/relationships/image" Target="/ppt/media/image3.jpeg" Id="R47b3be034b3b40c6" /><Relationship Type="http://schemas.openxmlformats.org/officeDocument/2006/relationships/notesSlide" Target="/ppt/notesSlides/notesSlide5.xml" Id="R81f7edae6c4041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c84163127e49b9" /><Relationship Type="http://schemas.openxmlformats.org/officeDocument/2006/relationships/image" Target="/ppt/media/image4.jpeg" Id="Rd06a346f72754db5" /><Relationship Type="http://schemas.openxmlformats.org/officeDocument/2006/relationships/notesSlide" Target="/ppt/notesSlides/notesSlide6.xml" Id="Rcaefafa7c48646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2f4a461cae43fd" /><Relationship Type="http://schemas.openxmlformats.org/officeDocument/2006/relationships/image" Target="/ppt/media/image5.jpeg" Id="R887b3c25746743ab" /><Relationship Type="http://schemas.openxmlformats.org/officeDocument/2006/relationships/notesSlide" Target="/ppt/notesSlides/notesSlide7.xml" Id="Rf48a265d4b8a46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78be2651aa4ac4" /><Relationship Type="http://schemas.openxmlformats.org/officeDocument/2006/relationships/image" Target="/ppt/media/image6.jpeg" Id="R5d8f0445c6454207" /><Relationship Type="http://schemas.openxmlformats.org/officeDocument/2006/relationships/notesSlide" Target="/ppt/notesSlides/notesSlide8.xml" Id="Rb999fbd4542f4f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58f13bae004fbe" /><Relationship Type="http://schemas.openxmlformats.org/officeDocument/2006/relationships/image" Target="/ppt/media/image7.jpeg" Id="Rae8d51b5bbf64943" /><Relationship Type="http://schemas.openxmlformats.org/officeDocument/2006/relationships/notesSlide" Target="/ppt/notesSlides/notesSlide9.xml" Id="Re45900facec940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bc42cb916a4891" /><Relationship Type="http://schemas.openxmlformats.org/officeDocument/2006/relationships/image" Target="/ppt/media/image8.jpeg" Id="R4d97b24842e24764" /><Relationship Type="http://schemas.openxmlformats.org/officeDocument/2006/relationships/notesSlide" Target="/ppt/notesSlides/notesSlide10.xml" Id="R1530bd565ee843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0822c1af7d462c" /><Relationship Type="http://schemas.openxmlformats.org/officeDocument/2006/relationships/image" Target="/ppt/media/image9.jpeg" Id="R9f1a1e2fea0f4074" /><Relationship Type="http://schemas.openxmlformats.org/officeDocument/2006/relationships/notesSlide" Target="/ppt/notesSlides/notesSlide11.xml" Id="R7edd7413cab64a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77d4bbe2e34bda" /><Relationship Type="http://schemas.openxmlformats.org/officeDocument/2006/relationships/image" Target="/ppt/media/image10.jpeg" Id="Rc7d6bc4ee6d742ab" /><Relationship Type="http://schemas.openxmlformats.org/officeDocument/2006/relationships/notesSlide" Target="/ppt/notesSlides/notesSlide12.xml" Id="Rcb4fe5ceb28646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34507f14aa4631" /><Relationship Type="http://schemas.openxmlformats.org/officeDocument/2006/relationships/notesSlide" Target="/ppt/notesSlides/notesSlide13.xml" Id="R7c476b53514445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8A8C0-9D91-4D8D-88BD-13BDC0C5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贷款智能体测评问题与改进证据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B07B3-511C-48A1-AA16-B06D83C4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343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837AF-C9B2-4ED7-99FE-A301D17C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1381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08D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08D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008D7A"/>
                </a:solidFill>
                <a:latin typeface="Hiragino Sans GB"/>
                <a:ea typeface="Hiragino Sans GB"/>
                <a:cs typeface="Hiragino Sans GB"/>
              </a:rPr>
              <a:t>基础编排、工作流、云虾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45379-A571-4D4F-9988-BE5B0866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1362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V1 问题截图与 V2 对照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FDA6A-A300-4CBA-BD3F-3D3CEE7A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同一套测评集与评估器下的真实历史结果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6EA68-ECE1-4705-8587-79241478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57900"/>
            <a:ext cx="1285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2026 年 10 月 9 日</a:t>
            </a:r>
          </a:p>
          <a:p xmlns:a="http://schemas.openxmlformats.org/drawingml/2006/main">
            <a:pPr>
              <a:defRPr sz="19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AgentGate 本机验收环境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A5BF3-BFA7-4CA7-BA41-8C9B40F7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81900"/>
            <a:ext cx="1362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evolution-v1 / evolution-v2 为教学演进版本。样本使用合成贷款客户。</a:t>
            </a:r>
          </a:p>
        </p:txBody>
      </p:sp>
    </p:spTree>
    <p:extLst>
      <p:ext uri="{BB962C8B-B14F-4D97-AF65-F5344CB8AC3E}">
        <p14:creationId xmlns:p14="http://schemas.microsoft.com/office/powerpoint/2010/main" val="260831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6B9F9-79E6-424D-AC3D-673AFF5C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三类智能体的规则评估结果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FF3D1-27B3-45C0-82E7-51442334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398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每类 20 个样本，两侧使用相同发布版本及评估规则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3EE4B-EAB4-497E-91E9-3091E584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343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D677B-31BD-4429-871C-FE8D3DEA6550}"/>
              </a:ext>
            </a:extLst>
          </p:cNvPr>
          <p:cNvGraphicFramePr/>
          <p:nvPr/>
        </p:nvGraphicFramePr>
        <p:xfrm>
          <a:off xmlns:a="http://schemas.openxmlformats.org/drawingml/2006/main" x="628650" y="2047875"/>
          <a:ext xmlns:a="http://schemas.openxmlformats.org/drawingml/2006/main" cx="139827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190750"/>
                <a:gridCol w="2190750"/>
                <a:gridCol w="4171950"/>
                <a:gridCol w="2762250"/>
              </a:tblGrid>
              <a:tr h="8001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63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智能体</a:t>
                      </a:r>
                    </a:p>
                  </a:txBody>
                  <a:tcPr marL="91440" marR="91440" marT="45720" marB="45720">
                    <a:solidFill>
                      <a:srgbClr val="E8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63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V1 综合分</a:t>
                      </a:r>
                    </a:p>
                  </a:txBody>
                  <a:tcPr marL="91440" marR="91440" marT="45720" marB="45720">
                    <a:solidFill>
                      <a:srgbClr val="E8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63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V2 综合分</a:t>
                      </a:r>
                    </a:p>
                  </a:txBody>
                  <a:tcPr marL="91440" marR="91440" marT="45720" marB="45720">
                    <a:solidFill>
                      <a:srgbClr val="E8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63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样本通过数</a:t>
                      </a:r>
                    </a:p>
                  </a:txBody>
                  <a:tcPr marL="91440" marR="91440" marT="45720" marB="45720">
                    <a:solidFill>
                      <a:srgbClr val="E8F2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63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失败转通过</a:t>
                      </a:r>
                    </a:p>
                  </a:txBody>
                  <a:tcPr marL="91440" marR="91440" marT="45720" marB="45720">
                    <a:solidFill>
                      <a:srgbClr val="E8F2E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基础编排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91.41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100.00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16/20 至 20/20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工作流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83.05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100.00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10/20 至 20/20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云虾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87.75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100.00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11/20 至 20/20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B3A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59143-8BA8-4545-936E-F9F86CF8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1362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综合分与通过率是不同口径。后续页面按具体检查项解释问题。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B7107-F2F1-419A-971E-DC96F255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0350"/>
            <a:ext cx="1362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截图中的“评估器 v1”是评估规则版本，被测智能体版本以本页 V1 / V2 为准。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66EF6-A292-4AED-ABD5-7E85FC72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524750"/>
            <a:ext cx="1362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范围：单次受控验收。三组规则无退化，LLM 与联合评估仍有扣分。</a:t>
            </a:r>
          </a:p>
        </p:txBody>
      </p:sp>
    </p:spTree>
    <p:extLst>
      <p:ext uri="{BB962C8B-B14F-4D97-AF65-F5344CB8AC3E}">
        <p14:creationId xmlns:p14="http://schemas.microsoft.com/office/powerpoint/2010/main" val="11247152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B8A72-E654-4A09-A4FB-ADDC0CC2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基础编排 V1：第二轮丢失申请金额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D7239E-5FC4-476A-A298-C6995460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398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样本 13「跨轮拆分资料 1」  第 2 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D143F-EED8-45A5-8930-462CCECE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343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33E99-4763-4B04-B99D-9009C608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触发输入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DA1FC-865F-4662-A456-B493D5B8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第 1 轮：我想申请 8 万元贷款。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第 2 轮：用途是购买农机。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7DF55-ECD8-4CC8-A73E-80C2B49A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rPr>
              <a:t>测评发现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38BBE-9F3C-4E1E-A0C3-3CCDEBEC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67175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期望依次提交申请、查询征信和审批。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实际工具路径为空，最终未创建申请。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1C70F-10AF-41CE-B304-29DA571B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对应原因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A967C-7741-4E34-840D-18645E81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V1 每轮仅保留当前用户输入。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回答再次要求用户提供贷款金额。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3FAF2-9DC6-481F-B9D6-AD58386608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37517e83b48c0"/>
          <a:stretch xmlns:a="http://schemas.openxmlformats.org/drawingml/2006/main"/>
        </p:blipFill>
        <p:spPr>
          <a:xfrm xmlns:a="http://schemas.openxmlformats.org/drawingml/2006/main">
            <a:off x="7334250" y="1842721"/>
            <a:ext cx="7620000" cy="574430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47D651-6DF1-42EC-AC06-98BE0A65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77175"/>
            <a:ext cx="1304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样本综合分 51.8。路径检查 50.0，必需工具覆盖 0.0。</a:t>
            </a:r>
          </a:p>
        </p:txBody>
      </p:sp>
    </p:spTree>
    <p:extLst>
      <p:ext uri="{BB962C8B-B14F-4D97-AF65-F5344CB8AC3E}">
        <p14:creationId xmlns:p14="http://schemas.microsoft.com/office/powerpoint/2010/main" val="1835055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492033-2529-4CA6-AB2B-C8C01E4D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基础编排 V2：跨轮资料完整承接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4481C-A920-48FC-9C84-5DABA1CF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398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同一规则任务、同一样本 13 的候选版本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62DF1-4F5F-4561-B12D-09EB91FF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343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22D8D-2DFB-4170-983A-01C69A79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改进内容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06FB5-8C37-4ABB-8161-74F767C0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使用完整会话上下文，承接上一轮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8 万元金额与本轮购买农机用途。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CD3B33-9033-4554-B287-4D6BFAF0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8D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8D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008D7A"/>
                </a:solidFill>
                <a:latin typeface="Hiragino Sans GB"/>
                <a:ea typeface="Hiragino Sans GB"/>
                <a:cs typeface="Hiragino Sans GB"/>
              </a:rPr>
              <a:t>实际执行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68451-1381-437D-A066-975E5E2E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67175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submit_application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credit_inquiry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approve_loan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1FB56-44EE-4483-9D7E-FF33A8D2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测评验证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44E01-F2EB-41DB-9ACA-020E52E7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7695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最终状态 approved，金额 80000。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同一样本综合分达到 100.0。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A7B4C-E411-41A2-A7D1-EF66BF3704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364cca3b944b6"/>
          <a:stretch xmlns:a="http://schemas.openxmlformats.org/drawingml/2006/main"/>
        </p:blipFill>
        <p:spPr>
          <a:xfrm xmlns:a="http://schemas.openxmlformats.org/drawingml/2006/main">
            <a:off x="7334250" y="1959952"/>
            <a:ext cx="7620000" cy="550984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50D85-4D42-4028-AC70-5C3CDA48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77175"/>
            <a:ext cx="1304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截图为状态规则检查。工具序列来自该样本保存的 Trace。</a:t>
            </a:r>
          </a:p>
        </p:txBody>
      </p:sp>
    </p:spTree>
    <p:extLst>
      <p:ext uri="{BB962C8B-B14F-4D97-AF65-F5344CB8AC3E}">
        <p14:creationId xmlns:p14="http://schemas.microsoft.com/office/powerpoint/2010/main" val="11382141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3A700-27BE-4D51-BB61-F25625A7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工作流 V1：20 万元边界判断错误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AF6A0-891D-4890-B2E6-B7526299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398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样本 10「金额边界20万元通过」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046EC-8FFB-4F02-928A-8DF7B1B7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343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B69E1-766E-4BDD-AE57-0F436528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正确策略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13E45-8B71-40E8-BC17-760A7A48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低风险、未阻断且金额等于 20 万元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应批准。超过 20 万元才转人工。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1D02A-6257-411F-8ADE-6F12C4BD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rPr>
              <a:t>测评发现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6E172-5626-4FA9-861E-3C02FC61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67175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金额正确，但状态停在 submitted。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期望 approved，批准标记也未通过。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3AE33-B253-4FBA-A5E6-03021C47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对应原因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B4A24-3AA4-4B72-B637-C2175817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V1 使用 &gt;= 200000，错误调用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request_human_review，工具拒绝该动作。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B37A2-2A99-42EF-AE56-960C39C961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3be034b3b40c6"/>
          <a:stretch xmlns:a="http://schemas.openxmlformats.org/drawingml/2006/main"/>
        </p:blipFill>
        <p:spPr>
          <a:xfrm xmlns:a="http://schemas.openxmlformats.org/drawingml/2006/main">
            <a:off x="7334250" y="1959952"/>
            <a:ext cx="7620000" cy="550984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A0ED6-4F11-48A7-B7B1-EEF82B57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77175"/>
            <a:ext cx="1304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状态规则得分 50.0。策略是工程 test-policy-v1 的测试规则。</a:t>
            </a:r>
          </a:p>
        </p:txBody>
      </p:sp>
    </p:spTree>
    <p:extLst>
      <p:ext uri="{BB962C8B-B14F-4D97-AF65-F5344CB8AC3E}">
        <p14:creationId xmlns:p14="http://schemas.microsoft.com/office/powerpoint/2010/main" val="73184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70AD1-D097-454C-B7DB-E2C97CC9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工作流 V1：查询请求没有调用查询工具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BE27A9-7D52-46C8-BF3F-EEA67888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398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样本 05「无申请查询」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177D8-23B4-4482-A89B-28740C09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343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74D4B-79E7-455C-8B2C-76E36B13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触发输入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1D4B2-D05B-43CD-A908-B3370E71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查询我的贷款申请进度。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4B54F-A961-4C77-BA9A-941DB2D0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3852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rPr>
              <a:t>测评发现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607C75-3E46-4B8B-8780-1EADAB54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95725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必须调用 get_application。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实际工具列表为空，必需工具得分 0.0。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0C97F-5A2D-43D0-A523-04FD6D75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为什么只看状态不够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20BA1-2FE7-47D5-924A-A521586A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最终 no_application 与期望一致，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但 V1 没有真正查询。V2 增加独立查询分支。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99455-F94F-4888-BD44-EABD41AC11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a346f72754db5"/>
          <a:stretch xmlns:a="http://schemas.openxmlformats.org/drawingml/2006/main"/>
        </p:blipFill>
        <p:spPr>
          <a:xfrm xmlns:a="http://schemas.openxmlformats.org/drawingml/2006/main">
            <a:off x="7334250" y="2370260"/>
            <a:ext cx="7620000" cy="4689231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2E603-FF1F-4CDD-9457-7C8C17A3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77175"/>
            <a:ext cx="1304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状态正确不等于执行过程正确。此例通过工具和路径评估发现遗漏。</a:t>
            </a:r>
          </a:p>
        </p:txBody>
      </p:sp>
    </p:spTree>
    <p:extLst>
      <p:ext uri="{BB962C8B-B14F-4D97-AF65-F5344CB8AC3E}">
        <p14:creationId xmlns:p14="http://schemas.microsoft.com/office/powerpoint/2010/main" val="19143250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E22DB-A0AB-48AF-9F63-D4F9A7DD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工作流 V1：跨轮槽位没有合并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F9E05-C045-47A8-BF59-64B7C5E5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398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样本 13「跨轮拆分资料 1」  第 2 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5682B-92D9-41C4-BBB0-FC654977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343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E33E4-6D20-4ABF-9C16-A3610E3F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触发输入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215F1-846B-4499-A405-781E262E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先提供金额 8 万元，下一轮补充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用途为购买农机。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E2302-E5FA-4374-A9D6-CD6F3F18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rPr>
              <a:t>测评发现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04EA7-D1F1-4206-973B-EB3D369A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67175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期望 approved，实际 no_application。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状态中缺少申请金额，必需工具未调用。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5D5A6-97D9-4C3E-ACDB-E2281C72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改进内容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60F11-4F92-4553-A3E4-770DECDA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V2 合并会话字段后再判断资料是否齐全。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同一样本在 V2 的规则检查全部通过。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A14B2-6144-49BD-84CA-E1CB2881EC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b3c25746743ab"/>
          <a:stretch xmlns:a="http://schemas.openxmlformats.org/drawingml/2006/main"/>
        </p:blipFill>
        <p:spPr>
          <a:xfrm xmlns:a="http://schemas.openxmlformats.org/drawingml/2006/main">
            <a:off x="7334250" y="1959952"/>
            <a:ext cx="7620000" cy="550984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AF0C0-6C21-4B71-BACF-C152E508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77175"/>
            <a:ext cx="1304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与基础编排的表现相似，工作流的修复落在会话槽位和节点分支。</a:t>
            </a:r>
          </a:p>
        </p:txBody>
      </p:sp>
    </p:spTree>
    <p:extLst>
      <p:ext uri="{BB962C8B-B14F-4D97-AF65-F5344CB8AC3E}">
        <p14:creationId xmlns:p14="http://schemas.microsoft.com/office/powerpoint/2010/main" val="2680345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8404F-A1DF-4AF6-B4A1-51A24D37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工作流 V2：边界分支得到修正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7A31E-B811-4B71-B397-B55345FF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398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同一样本 10，业务工具与测试政策保持一致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A41A7-05FA-43D3-875B-8D620BF0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343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F86EA-6A8C-487B-8F97-922A406A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改进内容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CF65D6-916F-433D-98DE-B00A638E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金额转人工条件改为 &gt; 200000。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保留低风险和阻断条件的独立判断。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3E4EE-393B-4317-A5BD-84F5AC2F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8D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8D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008D7A"/>
                </a:solidFill>
                <a:latin typeface="Hiragino Sans GB"/>
                <a:ea typeface="Hiragino Sans GB"/>
                <a:cs typeface="Hiragino Sans GB"/>
              </a:rPr>
              <a:t>实际执行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A293C-9F23-406F-B76B-F5754E01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67175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20 万元进入 approve_loan。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最终状态 approved，批准标记 true。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73B9C-7F9D-401D-AA46-60E217E2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完整实验结果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12B72-FB8B-47CB-B492-8A3B0346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20/20 个规则样本通过。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V1 的 10 个失败样本均转为通过。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33B18-89B4-4D58-A081-F649757B27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f0445c6454207"/>
          <a:stretch xmlns:a="http://schemas.openxmlformats.org/drawingml/2006/main"/>
        </p:blipFill>
        <p:spPr>
          <a:xfrm xmlns:a="http://schemas.openxmlformats.org/drawingml/2006/main">
            <a:off x="7334250" y="1959952"/>
            <a:ext cx="7620000" cy="550984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987EF-DD88-4D01-ABE5-7936E93D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77175"/>
            <a:ext cx="1304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另外修复了查询分支与跨轮槽位，本图展示金额边界的直接证据。</a:t>
            </a:r>
          </a:p>
        </p:txBody>
      </p:sp>
    </p:spTree>
    <p:extLst>
      <p:ext uri="{BB962C8B-B14F-4D97-AF65-F5344CB8AC3E}">
        <p14:creationId xmlns:p14="http://schemas.microsoft.com/office/powerpoint/2010/main" val="3509242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F07B7B-9D0A-4FE6-B40B-6909FF9B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云虾 V1：第二轮仍停留在申请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64A82-B340-4CA7-8449-9501490C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398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样本 06「申请后切换查询」  第 2 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938B3-7453-4B9C-AC66-6C6DA9BC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343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3265D-9F84-494D-80E8-7C5A3E5C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触发输入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F029B-FD56-4ADB-9C90-3934E11E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第 1 轮申请贷款，第 2 轮查询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刚才的申请状态。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EB0B6-D50D-4241-BF7E-949F5894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rPr>
              <a:t>测评发现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CC644-5431-4A3A-AD66-E24335AE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67175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期望 application_status。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实际仍为 loan_application，路由得分 50.0。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D8D82-2DC6-40B1-9363-F8FC1563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影响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B086E-C77C-4CA5-8382-A6E49ED1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第二轮没有调用 get_application。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即使最终状态 approved，也不能算查询成功。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44BD6-4EBB-4B4D-A292-535C878A5C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d51b5bbf64943"/>
          <a:stretch xmlns:a="http://schemas.openxmlformats.org/drawingml/2006/main"/>
        </p:blipFill>
        <p:spPr>
          <a:xfrm xmlns:a="http://schemas.openxmlformats.org/drawingml/2006/main">
            <a:off x="7334250" y="2428875"/>
            <a:ext cx="7620000" cy="4572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D63C0-5DA4-4785-9A6C-0DFE0270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77175"/>
            <a:ext cx="1304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V1 将首次 Skill 固定在会话内。第 1 轮正确，第 2 轮发生路由错误。</a:t>
            </a:r>
          </a:p>
        </p:txBody>
      </p:sp>
    </p:spTree>
    <p:extLst>
      <p:ext uri="{BB962C8B-B14F-4D97-AF65-F5344CB8AC3E}">
        <p14:creationId xmlns:p14="http://schemas.microsoft.com/office/powerpoint/2010/main" val="18221555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C2581-BE54-4C25-ACE7-B9A1DCE4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云虾 V1：补充资料后仍无法提交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E90E2-744A-4480-ADC1-AB29D1AC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398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样本 13「跨轮拆分资料 1」  第 2 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624D0-656C-4E26-A239-7F3CF0FE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343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D521B-52EB-4BD5-9C80-9294D3CA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触发输入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40050-3F38-4B8C-82A2-AE43D429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先说申请 8 万元，再补充购买农机。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F1864-04AB-4425-9AE1-F1EC58BE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3852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rPr>
              <a:t>测评发现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BB0B7-655B-4D69-8B3D-FAFAE03F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95725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期望 approved，实际 no_application。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申请金额缺失，申请流程未完成。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DD96A-F46B-46C2-9453-33847B9C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改进内容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F731B-886C-455F-B146-F06EAAE3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V2 结合会话重新路由，并使用已合并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跨轮字段的工作流。同一样本规则通过。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C7504-FD51-41F8-98B0-8BF223C651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7b24842e24764"/>
          <a:stretch xmlns:a="http://schemas.openxmlformats.org/drawingml/2006/main"/>
        </p:blipFill>
        <p:spPr>
          <a:xfrm xmlns:a="http://schemas.openxmlformats.org/drawingml/2006/main">
            <a:off x="7334250" y="1959952"/>
            <a:ext cx="7620000" cy="5509846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F0D2B-A1D8-4756-8060-F62DC932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77175"/>
            <a:ext cx="1304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Skill 路由正确与否、Skill 内部流程能否完成，分别需要验证。</a:t>
            </a:r>
          </a:p>
        </p:txBody>
      </p:sp>
    </p:spTree>
    <p:extLst>
      <p:ext uri="{BB962C8B-B14F-4D97-AF65-F5344CB8AC3E}">
        <p14:creationId xmlns:p14="http://schemas.microsoft.com/office/powerpoint/2010/main" val="19970583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44225-9558-4C4B-8512-86D68619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云虾 V2：查询轮切换到正确 Skill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38E26-B334-49A2-9C65-C4FC6F49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398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同一样本 06 的候选版本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4634F-7CA7-4D2B-A3EE-687B4563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343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532EB-EF8D-49A7-ACCF-6F692274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改进内容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08C64-651B-4BC9-A71E-0970C9EF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每轮结合会话重新判断意图。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查询轮选择 application_status。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93D36-D7B3-4C8B-8812-E3E4BCFE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08D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8D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008D7A"/>
                </a:solidFill>
                <a:latin typeface="Hiragino Sans GB"/>
                <a:ea typeface="Hiragino Sans GB"/>
                <a:cs typeface="Hiragino Sans GB"/>
              </a:rPr>
              <a:t>测评验证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0AADD-3DA0-4472-9B62-8F6DAA54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67175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两轮 Skill 均匹配，路由得分 100.0。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Trace 同时记录实际 get_application 调用。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099EE-62F0-4084-9041-B3D1A55A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完整实验结果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38ACF-FE87-4144-9469-EFCC3CCC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20/20 个规则样本通过。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V1 的 9 个失败样本均转为通过。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E4D68-3C1C-4C03-8718-552AEF35A0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a1e2fea0f4074"/>
          <a:stretch xmlns:a="http://schemas.openxmlformats.org/drawingml/2006/main"/>
        </p:blipFill>
        <p:spPr>
          <a:xfrm xmlns:a="http://schemas.openxmlformats.org/drawingml/2006/main">
            <a:off x="7334250" y="2428875"/>
            <a:ext cx="7620000" cy="4572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6B497E-285D-4CB9-B83E-2EAD30C8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77175"/>
            <a:ext cx="1304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Skill 名称、真实执行 span 和工具后代关系共同构成检查证据。</a:t>
            </a:r>
          </a:p>
        </p:txBody>
      </p:sp>
    </p:spTree>
    <p:extLst>
      <p:ext uri="{BB962C8B-B14F-4D97-AF65-F5344CB8AC3E}">
        <p14:creationId xmlns:p14="http://schemas.microsoft.com/office/powerpoint/2010/main" val="1342423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49C2E-3B83-4446-9DBB-1A73A99E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V2 剩余问题：拒绝原因解释不够准确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75DAC-AEA3-4FC3-8AEA-DFE278CD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398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基础编排联合评估，样本 03「阻断客户5万元仍拒绝」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56503-094E-4141-96C0-1600BDD7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343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F80C02-B481-48D5-8A03-6E96ACCD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实际回答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44AD7-7627-47A1-8E7C-7A55CEC1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将高风险、评分 400 与 blocked 并列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作为拒绝理由，没有突出决定性原因。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DBC1D-971E-4534-9CAD-297BF59E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rPr>
              <a:t>测评发现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78023-2B16-4247-ABE2-4E7ABDA8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67175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LLM 子项 79.0，未通过。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联合子项 96.5，但 all 门禁仍判未通过。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403C8-C883-4DFC-9289-B52CB644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下一轮改进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5BD8E-C730-43DB-A097-9C569718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628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明确 blocked 是拒绝的决定原因。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本例 V1 通过、V2 未通过，需保留并复测。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5287B-6DE9-4EEC-B810-F95EC03066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6bc4ee6d742ab"/>
          <a:stretch xmlns:a="http://schemas.openxmlformats.org/drawingml/2006/main"/>
        </p:blipFill>
        <p:spPr>
          <a:xfrm xmlns:a="http://schemas.openxmlformats.org/drawingml/2006/main">
            <a:off x="8095528" y="1619250"/>
            <a:ext cx="6097443" cy="6191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CF957-3318-4D29-A30B-C822B673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877175"/>
            <a:ext cx="1304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高综合分不代表所有关键检查通过。本例属于真实退化，未从结果中删除。</a:t>
            </a:r>
          </a:p>
        </p:txBody>
      </p:sp>
    </p:spTree>
    <p:extLst>
      <p:ext uri="{BB962C8B-B14F-4D97-AF65-F5344CB8AC3E}">
        <p14:creationId xmlns:p14="http://schemas.microsoft.com/office/powerpoint/2010/main" val="14700424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265A1-8F6E-4EDD-AD72-B80A3093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4020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证据边界与下一轮补测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4790B-F9A0-4192-9753-B245E4F0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14425"/>
            <a:ext cx="1398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区分本次真实发现与尚未充分验证的设计改进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CCEFC-1FB5-4B45-9954-320D15D4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343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A7C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71CDF-7D5E-46D7-9D2D-FAF3E6C0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1398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已经截图确认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E9983-6C2D-40B1-BAE4-DA714AB6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13982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跨轮资料丢失、查询遗漏、金额边界错误、Skill 未切换。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对应样本均可在任务结果中查看 V1 / V2。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B1502-BE18-46B3-AD04-3B098CA9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1398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AD452E"/>
                </a:solidFill>
                <a:latin typeface="Hiragino Sans GB"/>
                <a:ea typeface="Hiragino Sans GB"/>
                <a:cs typeface="Hiragino Sans GB"/>
              </a:rPr>
              <a:t>本批任务未独立证明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A978E-DEEE-4886-B343-A56F08E7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0075"/>
            <a:ext cx="13982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“首次工具错误后停止”的恢复差异尚缺独立截图证据。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Skill 权限限制已实现，本批结果不能据此宣称防越权提升。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C4E75-FAEF-4B06-9699-5ADBA1C5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0"/>
            <a:ext cx="1398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63B3A"/>
                </a:solidFill>
                <a:latin typeface="Hiragino Sans GB"/>
                <a:ea typeface="Hiragino Sans GB"/>
                <a:cs typeface="Hiragino Sans GB"/>
              </a:rPr>
              <a:t>建议继续验证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6A23C-1E77-4B27-84AB-A7B76CBC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13982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增加可控工具错误和未授权工具请求，检查实际恢复与拦截。</a:t>
            </a:r>
          </a:p>
          <a:p xmlns:a="http://schemas.openxmlformats.org/drawingml/2006/main">
            <a:pPr>
              <a:def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344F52"/>
                </a:solidFill>
                <a:latin typeface="Hiragino Sans GB"/>
                <a:ea typeface="Hiragino Sans GB"/>
                <a:cs typeface="Hiragino Sans GB"/>
              </a:rPr>
              <a:t>对剩余回答问题保留原评估器，多次复测并报告波动。</a:t>
            </a:r>
          </a:p>
        </p:txBody>
      </p:sp>
    </p:spTree>
    <p:extLst>
      <p:ext uri="{BB962C8B-B14F-4D97-AF65-F5344CB8AC3E}">
        <p14:creationId xmlns:p14="http://schemas.microsoft.com/office/powerpoint/2010/main" val="1654486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2026-10-09T05:13:47.7320000Z</dcterms:created>
  <dcterms:modified xsi:type="dcterms:W3CDTF">2026-10-09T05:13:47.7320000Z</dcterms:modified>
</coreProperties>
</file>