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062042f084fe2" /><Relationship Type="http://schemas.openxmlformats.org/officeDocument/2006/relationships/extended-properties" Target="/docProps/app.xml" Id="Rd2c16d5b838446ed" /><Relationship Type="http://schemas.openxmlformats.org/officeDocument/2006/relationships/officeDocument" Target="/ppt/presentation.xml" Id="R76198e44e46a47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977e9d5c84f84"/>
  </p:sldMasterIdLst>
  <p:notesMasterIdLst>
    <p:notesMasterId xmlns:r="http://schemas.openxmlformats.org/officeDocument/2006/relationships" r:id="Rb632adbb04f44d62"/>
  </p:notesMasterIdLst>
  <p:sldIdLst>
    <p:sldId xmlns:r="http://schemas.openxmlformats.org/officeDocument/2006/relationships" id="256" r:id="Ra12c6510a8974044"/>
    <p:sldId xmlns:r="http://schemas.openxmlformats.org/officeDocument/2006/relationships" id="257" r:id="R31b1604350484fcb"/>
    <p:sldId xmlns:r="http://schemas.openxmlformats.org/officeDocument/2006/relationships" id="258" r:id="R14a763e352e040c8"/>
    <p:sldId xmlns:r="http://schemas.openxmlformats.org/officeDocument/2006/relationships" id="259" r:id="R59fb2992fad841ef"/>
    <p:sldId xmlns:r="http://schemas.openxmlformats.org/officeDocument/2006/relationships" id="260" r:id="R8ee9674703734c8a"/>
    <p:sldId xmlns:r="http://schemas.openxmlformats.org/officeDocument/2006/relationships" id="261" r:id="Rc8c86b843a4e4e7a"/>
    <p:sldId xmlns:r="http://schemas.openxmlformats.org/officeDocument/2006/relationships" id="262" r:id="Rc747ed45273542f7"/>
    <p:sldId xmlns:r="http://schemas.openxmlformats.org/officeDocument/2006/relationships" id="263" r:id="Rd00f0790a4f3482a"/>
    <p:sldId xmlns:r="http://schemas.openxmlformats.org/officeDocument/2006/relationships" id="264" r:id="R80fbe2089aaa4962"/>
    <p:sldId xmlns:r="http://schemas.openxmlformats.org/officeDocument/2006/relationships" id="265" r:id="R7485067f193c4c61"/>
    <p:sldId xmlns:r="http://schemas.openxmlformats.org/officeDocument/2006/relationships" id="266" r:id="R95f7b4ba0203422e"/>
    <p:sldId xmlns:r="http://schemas.openxmlformats.org/officeDocument/2006/relationships" id="267" r:id="Re6029e1206934d29"/>
    <p:sldId xmlns:r="http://schemas.openxmlformats.org/officeDocument/2006/relationships" id="268" r:id="R18663042645d4ba8"/>
    <p:sldId xmlns:r="http://schemas.openxmlformats.org/officeDocument/2006/relationships" id="269" r:id="R6e6c0bf62ebf4243"/>
    <p:sldId xmlns:r="http://schemas.openxmlformats.org/officeDocument/2006/relationships" id="270" r:id="R80dc3198a5a248d3"/>
    <p:sldId xmlns:r="http://schemas.openxmlformats.org/officeDocument/2006/relationships" id="271" r:id="Rcba0d4a0c6c84187"/>
    <p:sldId xmlns:r="http://schemas.openxmlformats.org/officeDocument/2006/relationships" id="272" r:id="R6a0c551b73514eba"/>
    <p:sldId xmlns:r="http://schemas.openxmlformats.org/officeDocument/2006/relationships" id="273" r:id="R60f752237c884796"/>
    <p:sldId xmlns:r="http://schemas.openxmlformats.org/officeDocument/2006/relationships" id="274" r:id="Rb6e26cf1af68434a"/>
    <p:sldId xmlns:r="http://schemas.openxmlformats.org/officeDocument/2006/relationships" id="275" r:id="R0cacf2e6294f41af"/>
    <p:sldId xmlns:r="http://schemas.openxmlformats.org/officeDocument/2006/relationships" id="276" r:id="R4b0ab0cf15244955"/>
    <p:sldId xmlns:r="http://schemas.openxmlformats.org/officeDocument/2006/relationships" id="277" r:id="R4f6741d4f42c4e24"/>
    <p:sldId xmlns:r="http://schemas.openxmlformats.org/officeDocument/2006/relationships" id="278" r:id="R0ea90036f8eb48e0"/>
    <p:sldId xmlns:r="http://schemas.openxmlformats.org/officeDocument/2006/relationships" id="279" r:id="Rd596e3ef89ea4eb5"/>
    <p:sldId xmlns:r="http://schemas.openxmlformats.org/officeDocument/2006/relationships" id="280" r:id="R9f4826dc0d424efb"/>
    <p:sldId xmlns:r="http://schemas.openxmlformats.org/officeDocument/2006/relationships" id="281" r:id="R547204f73eec4d4f"/>
    <p:sldId xmlns:r="http://schemas.openxmlformats.org/officeDocument/2006/relationships" id="282" r:id="R724620bc699949e1"/>
    <p:sldId xmlns:r="http://schemas.openxmlformats.org/officeDocument/2006/relationships" id="283" r:id="R0d45bfde8e1f423d"/>
    <p:sldId xmlns:r="http://schemas.openxmlformats.org/officeDocument/2006/relationships" id="284" r:id="R9e1f3b2a04c34d6f"/>
    <p:sldId xmlns:r="http://schemas.openxmlformats.org/officeDocument/2006/relationships" id="285" r:id="R01af2d8682004b35"/>
    <p:sldId xmlns:r="http://schemas.openxmlformats.org/officeDocument/2006/relationships" id="286" r:id="Rdf167d716e7e498a"/>
    <p:sldId xmlns:r="http://schemas.openxmlformats.org/officeDocument/2006/relationships" id="287" r:id="R5b0119845bdd423a"/>
    <p:sldId xmlns:r="http://schemas.openxmlformats.org/officeDocument/2006/relationships" id="288" r:id="R60f37cdc4908423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98dbe868874813" /><Relationship Type="http://schemas.openxmlformats.org/officeDocument/2006/relationships/slideMaster" Target="/ppt/slideMasters/slideMaster1.xml" Id="R571977e9d5c84f84" /><Relationship Type="http://schemas.openxmlformats.org/officeDocument/2006/relationships/notesMaster" Target="/ppt/notesMasters/notesMaster1.xml" Id="Rb632adbb04f44d62" /><Relationship Type="http://schemas.openxmlformats.org/officeDocument/2006/relationships/presProps" Target="/ppt/presProps.xml" Id="Rf0748f44ca7f4550" /><Relationship Type="http://schemas.openxmlformats.org/officeDocument/2006/relationships/tableStyles" Target="/ppt/tableStyles.xml" Id="Rfe61fccf4ae0413f" /><Relationship Type="http://schemas.openxmlformats.org/officeDocument/2006/relationships/slide" Target="/ppt/slides/slide1.xml" Id="Ra12c6510a8974044" /><Relationship Type="http://schemas.openxmlformats.org/officeDocument/2006/relationships/slide" Target="/ppt/slides/slide2.xml" Id="R31b1604350484fcb" /><Relationship Type="http://schemas.openxmlformats.org/officeDocument/2006/relationships/slide" Target="/ppt/slides/slide3.xml" Id="R14a763e352e040c8" /><Relationship Type="http://schemas.openxmlformats.org/officeDocument/2006/relationships/slide" Target="/ppt/slides/slide4.xml" Id="R59fb2992fad841ef" /><Relationship Type="http://schemas.openxmlformats.org/officeDocument/2006/relationships/slide" Target="/ppt/slides/slide5.xml" Id="R8ee9674703734c8a" /><Relationship Type="http://schemas.openxmlformats.org/officeDocument/2006/relationships/slide" Target="/ppt/slides/slide6.xml" Id="Rc8c86b843a4e4e7a" /><Relationship Type="http://schemas.openxmlformats.org/officeDocument/2006/relationships/slide" Target="/ppt/slides/slide7.xml" Id="Rc747ed45273542f7" /><Relationship Type="http://schemas.openxmlformats.org/officeDocument/2006/relationships/slide" Target="/ppt/slides/slide8.xml" Id="Rd00f0790a4f3482a" /><Relationship Type="http://schemas.openxmlformats.org/officeDocument/2006/relationships/slide" Target="/ppt/slides/slide9.xml" Id="R80fbe2089aaa4962" /><Relationship Type="http://schemas.openxmlformats.org/officeDocument/2006/relationships/slide" Target="/ppt/slides/slide10.xml" Id="R7485067f193c4c61" /><Relationship Type="http://schemas.openxmlformats.org/officeDocument/2006/relationships/slide" Target="/ppt/slides/slide11.xml" Id="R95f7b4ba0203422e" /><Relationship Type="http://schemas.openxmlformats.org/officeDocument/2006/relationships/slide" Target="/ppt/slides/slide12.xml" Id="Re6029e1206934d29" /><Relationship Type="http://schemas.openxmlformats.org/officeDocument/2006/relationships/slide" Target="/ppt/slides/slide13.xml" Id="R18663042645d4ba8" /><Relationship Type="http://schemas.openxmlformats.org/officeDocument/2006/relationships/slide" Target="/ppt/slides/slide14.xml" Id="R6e6c0bf62ebf4243" /><Relationship Type="http://schemas.openxmlformats.org/officeDocument/2006/relationships/slide" Target="/ppt/slides/slide15.xml" Id="R80dc3198a5a248d3" /><Relationship Type="http://schemas.openxmlformats.org/officeDocument/2006/relationships/slide" Target="/ppt/slides/slide16.xml" Id="Rcba0d4a0c6c84187" /><Relationship Type="http://schemas.openxmlformats.org/officeDocument/2006/relationships/slide" Target="/ppt/slides/slide17.xml" Id="R6a0c551b73514eba" /><Relationship Type="http://schemas.openxmlformats.org/officeDocument/2006/relationships/slide" Target="/ppt/slides/slide18.xml" Id="R60f752237c884796" /><Relationship Type="http://schemas.openxmlformats.org/officeDocument/2006/relationships/slide" Target="/ppt/slides/slide19.xml" Id="Rb6e26cf1af68434a" /><Relationship Type="http://schemas.openxmlformats.org/officeDocument/2006/relationships/slide" Target="/ppt/slides/slide20.xml" Id="R0cacf2e6294f41af" /><Relationship Type="http://schemas.openxmlformats.org/officeDocument/2006/relationships/slide" Target="/ppt/slides/slide21.xml" Id="R4b0ab0cf15244955" /><Relationship Type="http://schemas.openxmlformats.org/officeDocument/2006/relationships/slide" Target="/ppt/slides/slide22.xml" Id="R4f6741d4f42c4e24" /><Relationship Type="http://schemas.openxmlformats.org/officeDocument/2006/relationships/slide" Target="/ppt/slides/slide23.xml" Id="R0ea90036f8eb48e0" /><Relationship Type="http://schemas.openxmlformats.org/officeDocument/2006/relationships/slide" Target="/ppt/slides/slide24.xml" Id="Rd596e3ef89ea4eb5" /><Relationship Type="http://schemas.openxmlformats.org/officeDocument/2006/relationships/slide" Target="/ppt/slides/slide25.xml" Id="R9f4826dc0d424efb" /><Relationship Type="http://schemas.openxmlformats.org/officeDocument/2006/relationships/slide" Target="/ppt/slides/slide26.xml" Id="R547204f73eec4d4f" /><Relationship Type="http://schemas.openxmlformats.org/officeDocument/2006/relationships/slide" Target="/ppt/slides/slide27.xml" Id="R724620bc699949e1" /><Relationship Type="http://schemas.openxmlformats.org/officeDocument/2006/relationships/slide" Target="/ppt/slides/slide28.xml" Id="R0d45bfde8e1f423d" /><Relationship Type="http://schemas.openxmlformats.org/officeDocument/2006/relationships/slide" Target="/ppt/slides/slide29.xml" Id="R9e1f3b2a04c34d6f" /><Relationship Type="http://schemas.openxmlformats.org/officeDocument/2006/relationships/slide" Target="/ppt/slides/slide30.xml" Id="R01af2d8682004b35" /><Relationship Type="http://schemas.openxmlformats.org/officeDocument/2006/relationships/slide" Target="/ppt/slides/slide31.xml" Id="Rdf167d716e7e498a" /><Relationship Type="http://schemas.openxmlformats.org/officeDocument/2006/relationships/slide" Target="/ppt/slides/slide32.xml" Id="R5b0119845bdd423a" /><Relationship Type="http://schemas.openxmlformats.org/officeDocument/2006/relationships/slide" Target="/ppt/slides/slide33.xml" Id="R60f37cdc490842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baa1e79edd4f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b0c052efb0420c" /><Relationship Type="http://schemas.openxmlformats.org/officeDocument/2006/relationships/notesMaster" Target="/ppt/notesMasters/notesMaster1.xml" Id="Rd6f80e85c72d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0cfe5c90e84ef8" /><Relationship Type="http://schemas.openxmlformats.org/officeDocument/2006/relationships/notesMaster" Target="/ppt/notesMasters/notesMaster1.xml" Id="Rf4331b4f51844d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4593c5c254402e" /><Relationship Type="http://schemas.openxmlformats.org/officeDocument/2006/relationships/notesMaster" Target="/ppt/notesMasters/notesMaster1.xml" Id="R7abca1adcbd946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e0dc54bc204524" /><Relationship Type="http://schemas.openxmlformats.org/officeDocument/2006/relationships/notesMaster" Target="/ppt/notesMasters/notesMaster1.xml" Id="R6b8ca15d4b6247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b4e07dc0c44f30" /><Relationship Type="http://schemas.openxmlformats.org/officeDocument/2006/relationships/notesMaster" Target="/ppt/notesMasters/notesMaster1.xml" Id="R277f3a6b83dc4d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0b6d7b48b4876" /><Relationship Type="http://schemas.openxmlformats.org/officeDocument/2006/relationships/notesMaster" Target="/ppt/notesMasters/notesMaster1.xml" Id="R94c684b3ae584e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1119f5f864415" /><Relationship Type="http://schemas.openxmlformats.org/officeDocument/2006/relationships/notesMaster" Target="/ppt/notesMasters/notesMaster1.xml" Id="R62105c49dd4e47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d2244ca4841e0" /><Relationship Type="http://schemas.openxmlformats.org/officeDocument/2006/relationships/notesMaster" Target="/ppt/notesMasters/notesMaster1.xml" Id="R8d6de479f3ce4a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db1470605b4541" /><Relationship Type="http://schemas.openxmlformats.org/officeDocument/2006/relationships/notesMaster" Target="/ppt/notesMasters/notesMaster1.xml" Id="R8b3ddbd67ae643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bb0705c0c84524" /><Relationship Type="http://schemas.openxmlformats.org/officeDocument/2006/relationships/notesMaster" Target="/ppt/notesMasters/notesMaster1.xml" Id="R14a9f9247ad640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cc486dc029416f" /><Relationship Type="http://schemas.openxmlformats.org/officeDocument/2006/relationships/notesMaster" Target="/ppt/notesMasters/notesMaster1.xml" Id="R66589c06869b42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147086621845fa" /><Relationship Type="http://schemas.openxmlformats.org/officeDocument/2006/relationships/notesMaster" Target="/ppt/notesMasters/notesMaster1.xml" Id="Rdf24a1bae8cd4c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3b056240f5438b" /><Relationship Type="http://schemas.openxmlformats.org/officeDocument/2006/relationships/notesMaster" Target="/ppt/notesMasters/notesMaster1.xml" Id="R1dab6a27364f41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683ea48bf14368" /><Relationship Type="http://schemas.openxmlformats.org/officeDocument/2006/relationships/notesMaster" Target="/ppt/notesMasters/notesMaster1.xml" Id="R6e3d545315b04e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1281cafb314c4a" /><Relationship Type="http://schemas.openxmlformats.org/officeDocument/2006/relationships/notesMaster" Target="/ppt/notesMasters/notesMaster1.xml" Id="R5a1bf5e31f5a40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3b8e939619407a" /><Relationship Type="http://schemas.openxmlformats.org/officeDocument/2006/relationships/notesMaster" Target="/ppt/notesMasters/notesMaster1.xml" Id="R98c93ac9bf1646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6cb39466f14b5e" /><Relationship Type="http://schemas.openxmlformats.org/officeDocument/2006/relationships/notesMaster" Target="/ppt/notesMasters/notesMaster1.xml" Id="Rb69f214479a44a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c296bf408c4f84" /><Relationship Type="http://schemas.openxmlformats.org/officeDocument/2006/relationships/notesMaster" Target="/ppt/notesMasters/notesMaster1.xml" Id="R27820674a1374f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0ca0a6966e442f" /><Relationship Type="http://schemas.openxmlformats.org/officeDocument/2006/relationships/notesMaster" Target="/ppt/notesMasters/notesMaster1.xml" Id="Ra431f700957644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464c6ebdbc4870" /><Relationship Type="http://schemas.openxmlformats.org/officeDocument/2006/relationships/notesMaster" Target="/ppt/notesMasters/notesMaster1.xml" Id="R1af5b3bdfd2f4a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02465b42c6442a" /><Relationship Type="http://schemas.openxmlformats.org/officeDocument/2006/relationships/notesMaster" Target="/ppt/notesMasters/notesMaster1.xml" Id="R4500cb4aec604c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0e4157eada4a41" /><Relationship Type="http://schemas.openxmlformats.org/officeDocument/2006/relationships/notesMaster" Target="/ppt/notesMasters/notesMaster1.xml" Id="Rc9e7ddca4b544d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254342429748fc" /><Relationship Type="http://schemas.openxmlformats.org/officeDocument/2006/relationships/notesMaster" Target="/ppt/notesMasters/notesMaster1.xml" Id="R4a9e0db28c6f4f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df6abb94cc748a9" /><Relationship Type="http://schemas.openxmlformats.org/officeDocument/2006/relationships/notesMaster" Target="/ppt/notesMasters/notesMaster1.xml" Id="Rb93674e2c28e40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98c52baa084391" /><Relationship Type="http://schemas.openxmlformats.org/officeDocument/2006/relationships/notesMaster" Target="/ppt/notesMasters/notesMaster1.xml" Id="R505adc1a795f4d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635455246df4eeb" /><Relationship Type="http://schemas.openxmlformats.org/officeDocument/2006/relationships/notesMaster" Target="/ppt/notesMasters/notesMaster1.xml" Id="Rde425087397a4f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b9cb586647b4fbc" /><Relationship Type="http://schemas.openxmlformats.org/officeDocument/2006/relationships/notesMaster" Target="/ppt/notesMasters/notesMaster1.xml" Id="Ra29fc1cf37dc4b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b046ee1fe441b9" /><Relationship Type="http://schemas.openxmlformats.org/officeDocument/2006/relationships/notesMaster" Target="/ppt/notesMasters/notesMaster1.xml" Id="R521abc2fc5ce423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ce486f13503497b" /><Relationship Type="http://schemas.openxmlformats.org/officeDocument/2006/relationships/notesMaster" Target="/ppt/notesMasters/notesMaster1.xml" Id="Reaa67609460542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e8c98cfa7064f16" /><Relationship Type="http://schemas.openxmlformats.org/officeDocument/2006/relationships/notesMaster" Target="/ppt/notesMasters/notesMaster1.xml" Id="Rd9ce9adcf7fa4e7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bc58ad682eb4f3d" /><Relationship Type="http://schemas.openxmlformats.org/officeDocument/2006/relationships/notesMaster" Target="/ppt/notesMasters/notesMaster1.xml" Id="R24ed24cb43b5429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3f78accff64f6d" /><Relationship Type="http://schemas.openxmlformats.org/officeDocument/2006/relationships/notesMaster" Target="/ppt/notesMasters/notesMaster1.xml" Id="R46ab4577981842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56f6e9daab946ce" /><Relationship Type="http://schemas.openxmlformats.org/officeDocument/2006/relationships/notesMaster" Target="/ppt/notesMasters/notesMaster1.xml" Id="R49803a17a80848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旧/左图：/Users/baibo/915-HN-AgentGate/runtime/ui-comparison-20261009/screenshots/tasks-overview-baseline.png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新/右图：/Users/baibo/915-HN-AgentGate/runtime/ui-comparison-20261009/screenshots/shell-current-welcome.png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行内网关未在本轮连通验收；截图未输入真实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SH01 行内/行外双模式及空间选择</a:t>
            </a:r>
          </a:p>
          <a:p xmlns:a="http://schemas.openxmlformats.org/drawingml/2006/main">
            <a:r>
              <a:t>旧：无欢迎页或路由登录守卫，直接进入工作台。</a:t>
            </a:r>
          </a:p>
          <a:p xmlns:a="http://schemas.openxmlformats.org/drawingml/2006/main">
            <a:r>
              <a:t>新：新增 token 校验、行内团队/个人空间选择和行外本地登录。</a:t>
            </a:r>
          </a:p>
          <a:p xmlns:a="http://schemas.openxmlformats.org/drawingml/2006/main">
            <a:r>
              <a:t>源码旧：/Users/baibo/915-NH-WEB/frontend/src/router/index.ts:1</a:t>
            </a:r>
          </a:p>
          <a:p xmlns:a="http://schemas.openxmlformats.org/drawingml/2006/main">
            <a:r>
              <a:t>源码新：/Users/baibo/915-HN-AgentGate/frontend/src/views/evaluation/Welcome.vue:27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SH02 登录状态和主动退出</a:t>
            </a:r>
          </a:p>
          <a:p xmlns:a="http://schemas.openxmlformats.org/drawingml/2006/main">
            <a:r>
              <a:t>旧：顶部显示后端连接状态，无会话退出入口。</a:t>
            </a:r>
          </a:p>
          <a:p xmlns:a="http://schemas.openxmlformats.org/drawingml/2006/main">
            <a:r>
              <a:t>新：顶部显示行内空间或行外环境并可登出；token仅驻内存，刷新需重新登录。</a:t>
            </a:r>
          </a:p>
          <a:p xmlns:a="http://schemas.openxmlformats.org/drawingml/2006/main">
            <a:r>
              <a:t>源码旧：/Users/baibo/915-NH-WEB/frontend/src/layout/EvaluationLayout.vue:17</a:t>
            </a:r>
          </a:p>
          <a:p xmlns:a="http://schemas.openxmlformats.org/drawingml/2006/main">
            <a:r>
              <a:t>源码新：/Users/baibo/915-HN-AgentGate/frontend/src/layout/EvaluationLayout.vue:19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旧/左图：/Users/baibo/915-HN-AgentGate/runtime/ui-comparison-20261009/screenshots/tasks-overview-baseline.png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新/右图：/Users/baibo/915-HN-AgentGate/runtime/ui-comparison-20261009/screenshots/tasks-overview-current.png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两图使用同一批本地数据，日期在截图上下文中统一平移；任务相关指标限最近最多 200 条运行；测评集样本数独立汇总。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T01 时间快捷项与标题一体化</a:t>
            </a:r>
          </a:p>
          <a:p xmlns:a="http://schemas.openxmlformats.org/drawingml/2006/main">
            <a:r>
              <a:t>旧：今日/近7天/近30天位于独立工具栏，标题区显示刷新说明</a:t>
            </a:r>
          </a:p>
          <a:p xmlns:a="http://schemas.openxmlformats.org/drawingml/2006/main">
            <a:r>
              <a:t>新：时间快捷项移至标题右侧，底部对齐，统一绿色选中态</a:t>
            </a:r>
          </a:p>
          <a:p xmlns:a="http://schemas.openxmlformats.org/drawingml/2006/main">
            <a:r>
              <a:t>源码旧：/Users/baibo/915-NH-WEB/frontend/src/views/evaluation/components/OverviewMetrics.vue:64</a:t>
            </a:r>
          </a:p>
          <a:p xmlns:a="http://schemas.openxmlformats.org/drawingml/2006/main">
            <a:r>
              <a:t>源码新：/Users/baibo/915-HN-AgentGate/frontend/src/views/evaluation/index.vue:330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T02 移除无数据指标占位</a:t>
            </a:r>
          </a:p>
          <a:p xmlns:a="http://schemas.openxmlformats.org/drawingml/2006/main">
            <a:r>
              <a:t>旧：五张指标卡包含仅显示—的Token消耗</a:t>
            </a:r>
          </a:p>
          <a:p xmlns:a="http://schemas.openxmlformats.org/drawingml/2006/main">
            <a:r>
              <a:t>新：保留四张有数据依据的指标卡，减少无效信息</a:t>
            </a:r>
          </a:p>
          <a:p xmlns:a="http://schemas.openxmlformats.org/drawingml/2006/main">
            <a:r>
              <a:t>源码旧：/Users/baibo/915-NH-WEB/frontend/src/views/evaluation/components/OverviewMetrics.vue:104</a:t>
            </a:r>
          </a:p>
          <a:p xmlns:a="http://schemas.openxmlformats.org/drawingml/2006/main">
            <a:r>
              <a:t>源码新：/Users/baibo/915-HN-AgentGate/frontend/src/views/evaluation/components/OverviewMetrics.vue:94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T03 最近任务信息紧凑呈现</a:t>
            </a:r>
          </a:p>
          <a:p xmlns:a="http://schemas.openxmlformats.org/drawingml/2006/main">
            <a:r>
              <a:t>旧：智能体名称和版本分两行</a:t>
            </a:r>
          </a:p>
          <a:p xmlns:a="http://schemas.openxmlformats.org/drawingml/2006/main">
            <a:r>
              <a:t>新：名称与版本同行，主要列不换行</a:t>
            </a:r>
          </a:p>
          <a:p xmlns:a="http://schemas.openxmlformats.org/drawingml/2006/main">
            <a:r>
              <a:t>源码旧：/Users/baibo/915-NH-WEB/frontend/src/views/evaluation/index.vue:335</a:t>
            </a:r>
          </a:p>
          <a:p xmlns:a="http://schemas.openxmlformats.org/drawingml/2006/main">
            <a:r>
              <a:t>源码新：/Users/baibo/915-HN-AgentGate/frontend/src/views/evaluation/index.vue:365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SH03 统一测评与资产术语</a:t>
            </a:r>
          </a:p>
          <a:p xmlns:a="http://schemas.openxmlformats.org/drawingml/2006/main">
            <a:r>
              <a:t>旧：评测/测评、数据集/评测集、A/B实验/Test 等混用。</a:t>
            </a:r>
          </a:p>
          <a:p xmlns:a="http://schemas.openxmlformats.org/drawingml/2006/main">
            <a:r>
              <a:t>新：统一为测评、测评集、A/B试验，任务中的应用改称被测Agent。</a:t>
            </a:r>
          </a:p>
          <a:p xmlns:a="http://schemas.openxmlformats.org/drawingml/2006/main">
            <a:r>
              <a:t>源码旧：/Users/baibo/915-NH-WEB/frontend/src/layout/EvaluationLayout.vue:4</a:t>
            </a:r>
          </a:p>
          <a:p xmlns:a="http://schemas.openxmlformats.org/drawingml/2006/main">
            <a:r>
              <a:t>源码新：/Users/baibo/915-HN-AgentGate/frontend/src/layout/EvaluationLayout.vue:5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SH05 收紧导航并让状态就近展示</a:t>
            </a:r>
          </a:p>
          <a:p xmlns:a="http://schemas.openxmlformats.org/drawingml/2006/main">
            <a:r>
              <a:t>旧：侧栏220px，顶部独立连接徽标，导航组说明占位。</a:t>
            </a:r>
          </a:p>
          <a:p xmlns:a="http://schemas.openxmlformats.org/drawingml/2006/main">
            <a:r>
              <a:t>新：侧栏160px；移除导航组说明，连接状态放侧栏底部，正文增加60px横向空间。</a:t>
            </a:r>
          </a:p>
          <a:p xmlns:a="http://schemas.openxmlformats.org/drawingml/2006/main">
            <a:r>
              <a:t>源码旧：/Users/baibo/915-NH-WEB/frontend/src/styles/main.scss:58</a:t>
            </a:r>
          </a:p>
          <a:p xmlns:a="http://schemas.openxmlformats.org/drawingml/2006/main">
            <a:r>
              <a:t>源码新：/Users/baibo/915-HN-AgentGate/frontend/src/styles/main.scss:58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旧/左图：/Users/baibo/915-HN-AgentGate/runtime/ui-comparison-20261009/screenshots/tasks-list-baseline.png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新/右图：/Users/baibo/915-HN-AgentGate/runtime/ui-comparison-20261009/screenshots/tasks-list-current.png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旧状态筛选、任意日期范围和批量导出入口不再显示，作为后续改进项单列。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T08 任务类型直接切换</a:t>
            </a:r>
          </a:p>
          <a:p xmlns:a="http://schemas.openxmlformats.org/drawingml/2006/main">
            <a:r>
              <a:t>旧：以状态页签为主，类型藏在下拉框</a:t>
            </a:r>
          </a:p>
          <a:p xmlns:a="http://schemas.openxmlformats.org/drawingml/2006/main">
            <a:r>
              <a:t>新：全部/单任务/A/B试验页签直接切换，列表新增独立任务类型列</a:t>
            </a:r>
          </a:p>
          <a:p xmlns:a="http://schemas.openxmlformats.org/drawingml/2006/main">
            <a:r>
              <a:t>源码旧：/Users/baibo/915-NH-WEB/frontend/src/views/evaluation/components/TaskList.vue:160</a:t>
            </a:r>
          </a:p>
          <a:p xmlns:a="http://schemas.openxmlformats.org/drawingml/2006/main">
            <a:r>
              <a:t>源码新：/Users/baibo/915-HN-AgentGate/frontend/src/views/evaluation/components/TaskList.vue:205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T09 时间快捷筛选</a:t>
            </a:r>
          </a:p>
          <a:p xmlns:a="http://schemas.openxmlformats.org/drawingml/2006/main">
            <a:r>
              <a:t>旧：只有起止日期范围输入</a:t>
            </a:r>
          </a:p>
          <a:p xmlns:a="http://schemas.openxmlformats.org/drawingml/2006/main">
            <a:r>
              <a:t>新：新增今日/近7天/近30天，默认近7天</a:t>
            </a:r>
          </a:p>
          <a:p xmlns:a="http://schemas.openxmlformats.org/drawingml/2006/main">
            <a:r>
              <a:t>源码旧：/Users/baibo/915-NH-WEB/frontend/src/views/evaluation/components/TaskList.vue:186</a:t>
            </a:r>
          </a:p>
          <a:p xmlns:a="http://schemas.openxmlformats.org/drawingml/2006/main">
            <a:r>
              <a:t>源码新：/Users/baibo/915-HN-AgentGate/frontend/src/views/evaluation/components/TaskList.vue:190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T10 列表在一屏内紧凑对齐</a:t>
            </a:r>
          </a:p>
          <a:p xmlns:a="http://schemas.openxmlformats.org/drawingml/2006/main">
            <a:r>
              <a:t>旧：表格最小宽1250，长信息易换行，单任务/A-B得分字号不同</a:t>
            </a:r>
          </a:p>
          <a:p xmlns:a="http://schemas.openxmlformats.org/drawingml/2006/main">
            <a:r>
              <a:t>新：固定比例列宽、超长省略+title，行顶端对齐，评估方式纯文本，得分字号一致</a:t>
            </a:r>
          </a:p>
          <a:p xmlns:a="http://schemas.openxmlformats.org/drawingml/2006/main">
            <a:r>
              <a:t>源码旧：/Users/baibo/915-NH-WEB/frontend/src/views/evaluation/components/TaskList.vue:344</a:t>
            </a:r>
          </a:p>
          <a:p xmlns:a="http://schemas.openxmlformats.org/drawingml/2006/main">
            <a:r>
              <a:t>源码新：/Users/baibo/915-HN-AgentGate/frontend/src/views/evaluation/components/TaskList.vue:432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T11 删除任务操作</a:t>
            </a:r>
          </a:p>
          <a:p xmlns:a="http://schemas.openxmlformats.org/drawingml/2006/main">
            <a:r>
              <a:t>旧：操作列只有导出/取消</a:t>
            </a:r>
          </a:p>
          <a:p xmlns:a="http://schemas.openxmlformats.org/drawingml/2006/main">
            <a:r>
              <a:t>新：新增删除，确认不可恢复后调用任务删除接口，并刷新列表</a:t>
            </a:r>
          </a:p>
          <a:p xmlns:a="http://schemas.openxmlformats.org/drawingml/2006/main">
            <a:r>
              <a:t>源码旧：/Users/baibo/915-NH-WEB/frontend/src/views/evaluation/components/TaskList.vue:280</a:t>
            </a:r>
          </a:p>
          <a:p xmlns:a="http://schemas.openxmlformats.org/drawingml/2006/main">
            <a:r>
              <a:t>源码新：/Users/baibo/915-HN-AgentGate/frontend/src/views/evaluation/components/TaskList.vue:99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旧/左图：/Users/baibo/915-HN-AgentGate/runtime/ui-comparison-20261009/screenshots/tasks-create-baseline.png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新/右图：/Users/baibo/915-HN-AgentGate/runtime/ui-comparison-20261009/screenshots/tasks-selected-current.png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目录截图为演示响应/本地模拟；团队在登录时确定，类型由目录识别，不是新增独立类型下拉。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T04 任务名称由用户配置</a:t>
            </a:r>
          </a:p>
          <a:p xmlns:a="http://schemas.openxmlformats.org/drawingml/2006/main">
            <a:r>
              <a:t>旧：任务名由Agent/评估模式/短ID拼接，创建时不可填</a:t>
            </a:r>
          </a:p>
          <a:p xmlns:a="http://schemas.openxmlformats.org/drawingml/2006/main">
            <a:r>
              <a:t>新：新建增加01任务名称；列表与详情使用配置名；旧记录回退Agent名称+月日</a:t>
            </a:r>
          </a:p>
          <a:p xmlns:a="http://schemas.openxmlformats.org/drawingml/2006/main">
            <a:r>
              <a:t>源码旧：/Users/baibo/915-NH-WEB/frontend/src/views/evaluation/utils/dashboard-data.ts:12</a:t>
            </a:r>
          </a:p>
          <a:p xmlns:a="http://schemas.openxmlformats.org/drawingml/2006/main">
            <a:r>
              <a:t>源码新：/Users/baibo/915-HN-AgentGate/frontend/src/views/evaluation/components/EvaluationTaskForm.vue:902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T05 接入平台智能体目录级联选择</a:t>
            </a:r>
          </a:p>
          <a:p xmlns:a="http://schemas.openxmlformats.org/drawingml/2006/main">
            <a:r>
              <a:t>旧：只选登记的本地智能体和内置Demo，云虾填写Git分支地址</a:t>
            </a:r>
          </a:p>
          <a:p xmlns:a="http://schemas.openxmlformats.org/drawingml/2006/main">
            <a:r>
              <a:t>新：统一目录查询智能体/分支/版本，abcclaw按分支取版本；无效、空、错误有提示与重试</a:t>
            </a:r>
          </a:p>
          <a:p xmlns:a="http://schemas.openxmlformats.org/drawingml/2006/main">
            <a:r>
              <a:t>源码旧：/Users/baibo/915-NH-WEB/frontend/src/views/evaluation/components/EvaluationTaskForm.vue:566</a:t>
            </a:r>
          </a:p>
          <a:p xmlns:a="http://schemas.openxmlformats.org/drawingml/2006/main">
            <a:r>
              <a:t>源码新：/Users/baibo/915-HN-AgentGate/frontend/src/views/evaluation/components/AgentTargetPicker.vue:215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旧/左图：/Users/baibo/915-HN-AgentGate/runtime/ui-comparison-20261009/screenshots/tasks-ab-baseline.png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新/右图：/Users/baibo/915-HN-AgentGate/runtime/ui-comparison-20261009/screenshots/tasks-ab-current.png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本页只核对配置交互与实现，未提交 A/B 运行；独立 A/B 结果页原本已有。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T13 平台同智能体双版本比较</a:t>
            </a:r>
          </a:p>
          <a:p xmlns:a="http://schemas.openxmlformats.org/drawingml/2006/main">
            <a:r>
              <a:t>旧：本地登记智能体不支持A/B，主要用内置Demo双版本</a:t>
            </a:r>
          </a:p>
          <a:p xmlns:a="http://schemas.openxmlformats.org/drawingml/2006/main">
            <a:r>
              <a:t>新：平台目录共用基线选取，候选同源加载，禁止相同版本；不把并行开发中的本地贷款双版本后台接入计入本次完成项。</a:t>
            </a:r>
          </a:p>
          <a:p xmlns:a="http://schemas.openxmlformats.org/drawingml/2006/main">
            <a:r>
              <a:t>源码旧：/Users/baibo/915-NH-WEB/frontend/src/views/evaluation/components/EvaluationTaskForm.vue:622</a:t>
            </a:r>
          </a:p>
          <a:p xmlns:a="http://schemas.openxmlformats.org/drawingml/2006/main">
            <a:r>
              <a:t>源码新：/Users/baibo/915-HN-AgentGate/frontend/src/views/evaluation/components/EvaluationTaskForm.vue:958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旧/左图：/Users/baibo/915-HN-AgentGate/runtime/ui-comparison-20261009/screenshots/tasks-execution-baseline.png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新/右图：/Users/baibo/915-HN-AgentGate/runtime/ui-comparison-20261009/screenshots/tasks-execution-current.png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参数界面有截图；校验、权限拒绝及结果不明分支经代码核验，本轮未故意制造业务提交异常。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T06 平台目标与测评集适配校验</a:t>
            </a:r>
          </a:p>
          <a:p xmlns:a="http://schemas.openxmlformats.org/drawingml/2006/main">
            <a:r>
              <a:t>旧：未针对平台目标限制业务初始状态和文本输入格式</a:t>
            </a:r>
          </a:p>
          <a:p xmlns:a="http://schemas.openxmlformats.org/drawingml/2006/main">
            <a:r>
              <a:t>新：提交前检查平台用例为纯txt且无业务初始状态，指出不兼容数量</a:t>
            </a:r>
          </a:p>
          <a:p xmlns:a="http://schemas.openxmlformats.org/drawingml/2006/main">
            <a:r>
              <a:t>源码旧：/Users/baibo/915-NH-WEB/frontend/src/views/evaluation/components/EvaluationTaskForm.vue:389</a:t>
            </a:r>
          </a:p>
          <a:p xmlns:a="http://schemas.openxmlformats.org/drawingml/2006/main">
            <a:r>
              <a:t>源码新：/Users/baibo/915-HN-AgentGate/frontend/src/views/evaluation/components/EvaluationTaskForm.vue:609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T07 提交异常区分处理</a:t>
            </a:r>
          </a:p>
          <a:p xmlns:a="http://schemas.openxmlformats.org/drawingml/2006/main">
            <a:r>
              <a:t>旧：提交异常直接String(error)</a:t>
            </a:r>
          </a:p>
          <a:p xmlns:a="http://schemas.openxmlformats.org/drawingml/2006/main">
            <a:r>
              <a:t>新：区分读取失败、权限拒绝、创建结果不明；提示先查任务列表避免重复提交</a:t>
            </a:r>
          </a:p>
          <a:p xmlns:a="http://schemas.openxmlformats.org/drawingml/2006/main">
            <a:r>
              <a:t>源码旧：/Users/baibo/915-NH-WEB/frontend/src/views/evaluation/components/EvaluationTaskForm.vue:505</a:t>
            </a:r>
          </a:p>
          <a:p xmlns:a="http://schemas.openxmlformats.org/drawingml/2006/main">
            <a:r>
              <a:t>源码新：/Users/baibo/915-HN-AgentGate/frontend/src/views/evaluation/components/EvaluationTaskForm.vue:823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T12 执行参数按目标适配</a:t>
            </a:r>
          </a:p>
          <a:p xmlns:a="http://schemas.openxmlformats.org/drawingml/2006/main">
            <a:r>
              <a:t>旧：所有登记bank目标均固定串行/不重试，默认并发2</a:t>
            </a:r>
          </a:p>
          <a:p xmlns:a="http://schemas.openxmlformats.org/drawingml/2006/main">
            <a:r>
              <a:t>新：默认并发1；平台目标按能力填写并发和重试，本地贷款/A-B保持限制</a:t>
            </a:r>
          </a:p>
          <a:p xmlns:a="http://schemas.openxmlformats.org/drawingml/2006/main">
            <a:r>
              <a:t>源码旧：/Users/baibo/915-NH-WEB/frontend/src/views/evaluation/components/EvaluationTaskForm.vue:776</a:t>
            </a:r>
          </a:p>
          <a:p xmlns:a="http://schemas.openxmlformats.org/drawingml/2006/main">
            <a:r>
              <a:t>源码新：/Users/baibo/915-HN-AgentGate/frontend/src/views/evaluation/components/EvaluationTaskForm.vue:1195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旧/左图：/Users/baibo/915-HN-AgentGate/runtime/ui-comparison-20261009/screenshots/tasks-scores-baseline.png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新/右图：/Users/baibo/915-HN-AgentGate/runtime/ui-comparison-20261009/screenshots/tasks-scores-current.png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两图使用同一演示结果响应（LLM 得分 75），未调用真实 LLM；显示的是评估器总分，不代表新增逐轮评分。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T14 展示实际评估器得分</a:t>
            </a:r>
          </a:p>
          <a:p xmlns:a="http://schemas.openxmlformats.org/drawingml/2006/main">
            <a:r>
              <a:t>旧：LLM按rubric拆列但独立维度分数均显示—</a:t>
            </a:r>
          </a:p>
          <a:p xmlns:a="http://schemas.openxmlformats.org/drawingml/2006/main">
            <a:r>
              <a:t>新：按评估器列展示实际score，详情明确“评估器得分”</a:t>
            </a:r>
          </a:p>
          <a:p xmlns:a="http://schemas.openxmlformats.org/drawingml/2006/main">
            <a:r>
              <a:t>源码旧：/Users/baibo/915-NH-WEB/frontend/src/views/evaluation/utils/task-report.ts:3</a:t>
            </a:r>
          </a:p>
          <a:p xmlns:a="http://schemas.openxmlformats.org/drawingml/2006/main">
            <a:r>
              <a:t>源码新：/Users/baibo/915-HN-AgentGate/frontend/src/views/evaluation/utils/task-report.ts:3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T15 任务详情直达Skill静态分析</a:t>
            </a:r>
          </a:p>
          <a:p xmlns:a="http://schemas.openxmlformats.org/drawingml/2006/main">
            <a:r>
              <a:t>旧：任务结果仅样本结果/任务配置两页签</a:t>
            </a:r>
          </a:p>
          <a:p xmlns:a="http://schemas.openxmlformats.org/drawingml/2006/main">
            <a:r>
              <a:t>新：增加Skill静态分析页签，锁定本任务对象</a:t>
            </a:r>
          </a:p>
          <a:p xmlns:a="http://schemas.openxmlformats.org/drawingml/2006/main">
            <a:r>
              <a:t>源码旧：/Users/baibo/915-NH-WEB/frontend/src/views/evaluation/components/TaskResults.vue:269</a:t>
            </a:r>
          </a:p>
          <a:p xmlns:a="http://schemas.openxmlformats.org/drawingml/2006/main">
            <a:r>
              <a:t>源码新：/Users/baibo/915-HN-AgentGate/frontend/src/views/evaluation/components/TaskResults.vue:280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旧/左图：/Users/baibo/915-HN-AgentGate/runtime/ui-comparison-20261009/screenshots/tasks-sample-baseline.png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新/右图：/Users/baibo/915-HN-AgentGate/runtime/ui-comparison-20261009/screenshots/tasks-sample-current.png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两图为同一个已完成的本地模拟样本。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T17 单轮多轮统一导航</a:t>
            </a:r>
          </a:p>
          <a:p xmlns:a="http://schemas.openxmlformats.org/drawingml/2006/main">
            <a:r>
              <a:t>旧：仅多轮展示轮次目录/轮次标题</a:t>
            </a:r>
          </a:p>
          <a:p xmlns:a="http://schemas.openxmlformats.org/drawingml/2006/main">
            <a:r>
              <a:t>新：单轮也显示目录与第1轮，布局统一</a:t>
            </a:r>
          </a:p>
          <a:p xmlns:a="http://schemas.openxmlformats.org/drawingml/2006/main">
            <a:r>
              <a:t>源码旧：/Users/baibo/915-NH-WEB/frontend/src/views/evaluation/components/TaskResults.vue:476</a:t>
            </a:r>
          </a:p>
          <a:p xmlns:a="http://schemas.openxmlformats.org/drawingml/2006/main">
            <a:r>
              <a:t>源码新：/Users/baibo/915-HN-AgentGate/frontend/src/views/evaluation/components/TaskResults.vue:500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旧/左图：/Users/baibo/915-HN-AgentGate/runtime/ui-comparison-20261009/screenshots/tasks-trace-rich-baseline.png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新/右图：/Users/baibo/915-HN-AgentGate/runtime/ui-comparison-20261009/screenshots/tasks-trace-rich-current.png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截图为本地模拟轨迹，不代表线上全链路采集完整性。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T18 执行图与完整Trace JSON联动</a:t>
            </a:r>
          </a:p>
          <a:p xmlns:a="http://schemas.openxmlformats.org/drawingml/2006/main">
            <a:r>
              <a:t>旧：展示会话与评分，缺少专门执行图及完整JSON查看器</a:t>
            </a:r>
          </a:p>
          <a:p xmlns:a="http://schemas.openxmlformats.org/drawingml/2006/main">
            <a:r>
              <a:t>新：新增环节层级、类型、状态、耗时图；点击定位只读JSON，支持搜索/折叠</a:t>
            </a:r>
          </a:p>
          <a:p xmlns:a="http://schemas.openxmlformats.org/drawingml/2006/main">
            <a:r>
              <a:t>源码旧：/Users/baibo/915-NH-WEB/frontend/src/views/evaluation/components/TaskResults.vue:591</a:t>
            </a:r>
          </a:p>
          <a:p xmlns:a="http://schemas.openxmlformats.org/drawingml/2006/main">
            <a:r>
              <a:t>源码新：/Users/baibo/915-HN-AgentGate/frontend/src/views/evaluation/components/TraceExplorer.vue:132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旧/左图：/Users/baibo/915-HN-AgentGate/runtime/ui-comparison-20261009/screenshots/tasks-graph-detail-baseline.png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新/右图：/Users/baibo/915-HN-AgentGate/runtime/ui-comparison-20261009/screenshots/tasks-graph-detail-current.png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同一工作流定义样例通过只读 API 响应提供；图谱完整性依赖目录返回的描述符。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T19 工作流按执行关系分层展示</a:t>
            </a:r>
          </a:p>
          <a:p xmlns:a="http://schemas.openxmlformats.org/drawingml/2006/main">
            <a:r>
              <a:t>旧：按节点kind排成列，不区分工作流执行类型/条件</a:t>
            </a:r>
          </a:p>
          <a:p xmlns:a="http://schemas.openxmlformats.org/drawingml/2006/main">
            <a:r>
              <a:t>新：DAG分层、箭头方向、分支条件，节点区分LLM/规则/工具/起止；循环图回退关系展示</a:t>
            </a:r>
          </a:p>
          <a:p xmlns:a="http://schemas.openxmlformats.org/drawingml/2006/main">
            <a:r>
              <a:t>源码旧：/Users/baibo/915-NH-WEB/frontend/src/views/evaluation/components/TargetStructure.vue:62</a:t>
            </a:r>
          </a:p>
          <a:p xmlns:a="http://schemas.openxmlformats.org/drawingml/2006/main">
            <a:r>
              <a:t>源码新：/Users/baibo/915-HN-AgentGate/frontend/src/views/evaluation/components/TargetStructure.vue:73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DS04 图谱化查看关联定义</a:t>
            </a:r>
          </a:p>
          <a:p xmlns:a="http://schemas.openxmlformats.org/drawingml/2006/main">
            <a:r>
              <a:t>旧：以提示词、Skill/Tool、节点结构三个文本页签显示定义。</a:t>
            </a:r>
          </a:p>
          <a:p xmlns:a="http://schemas.openxmlformats.org/drawingml/2006/main">
            <a:r>
              <a:t>新：统一智能体图谱页签，显示 TargetStructure；保留已有会话页签。</a:t>
            </a:r>
          </a:p>
          <a:p xmlns:a="http://schemas.openxmlformats.org/drawingml/2006/main">
            <a:r>
              <a:t>源码旧：/Users/baibo/915-NH-WEB/frontend/src/views/datasets/components/DatasetCreateForm.vue:349</a:t>
            </a:r>
          </a:p>
          <a:p xmlns:a="http://schemas.openxmlformats.org/drawingml/2006/main">
            <a:r>
              <a:t>源码新：/Users/baibo/915-HN-AgentGate/frontend/src/views/datasets/components/DatasetCreateForm.vue:351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旧/左图：/Users/baibo/915-HN-AgentGate/runtime/ui-comparison-20261009/screenshots/tasks-analysis-detail-baseline.png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新/右图：/Users/baibo/915-HN-AgentGate/runtime/ui-comparison-20261009/screenshots/tasks-analysis-detail-current.png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报告状态由明确的 API 样例展示，本轮未调用付费模型；原有静态分析能力不重复计为新增。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T20 约束有效分析对象</a:t>
            </a:r>
          </a:p>
          <a:p xmlns:a="http://schemas.openxmlformats.org/drawingml/2006/main">
            <a:r>
              <a:t>旧：有1个Skill也可运行职责比较</a:t>
            </a:r>
          </a:p>
          <a:p xmlns:a="http://schemas.openxmlformats.org/drawingml/2006/main">
            <a:r>
              <a:t>新：至少2个Skill才允许分析，明确不适用提示</a:t>
            </a:r>
          </a:p>
          <a:p xmlns:a="http://schemas.openxmlformats.org/drawingml/2006/main">
            <a:r>
              <a:t>源码旧：/Users/baibo/915-NH-WEB/frontend/src/views/evaluation/components/UpstreamAnalysis.vue:195</a:t>
            </a:r>
          </a:p>
          <a:p xmlns:a="http://schemas.openxmlformats.org/drawingml/2006/main">
            <a:r>
              <a:t>源码新：/Users/baibo/915-HN-AgentGate/frontend/src/views/evaluation/components/UpstreamAnalysis.vue:195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T21 分析依据和覆盖范围透明</a:t>
            </a:r>
          </a:p>
          <a:p xmlns:a="http://schemas.openxmlformats.org/drawingml/2006/main">
            <a:r>
              <a:t>旧：只有发现项列表和复核输入</a:t>
            </a:r>
          </a:p>
          <a:p xmlns:a="http://schemas.openxmlformats.org/drawingml/2006/main">
            <a:r>
              <a:t>新：增加模型名、完成比较组数、两两Skill关系与置信度，声明职责分析边界</a:t>
            </a:r>
          </a:p>
          <a:p xmlns:a="http://schemas.openxmlformats.org/drawingml/2006/main">
            <a:r>
              <a:t>源码旧：/Users/baibo/915-NH-WEB/frontend/src/views/evaluation/components/UpstreamAnalysis.vue:412</a:t>
            </a:r>
          </a:p>
          <a:p xmlns:a="http://schemas.openxmlformats.org/drawingml/2006/main">
            <a:r>
              <a:t>源码新：/Users/baibo/915-HN-AgentGate/frontend/src/views/evaluation/components/UpstreamAnalysis.vue:415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旧/左图：/Users/baibo/915-HN-AgentGate/runtime/ui-comparison-20261009/screenshots/datasets-create-top-old.png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新/右图：/Users/baibo/915-HN-AgentGate/runtime/ui-comparison-20261009/screenshots/datasets-create-top-new.png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名称及卡片名称旧版已有；当前关联控件可操作。关联信息、图标与标签仍不随测评集保存。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DS01 先命名，再关联智能体</a:t>
            </a:r>
          </a:p>
          <a:p xmlns:a="http://schemas.openxmlformats.org/drawingml/2006/main">
            <a:r>
              <a:t>旧：第一步为关联智能体；名称在第二步且位于定义会话区域后。</a:t>
            </a:r>
          </a:p>
          <a:p xmlns:a="http://schemas.openxmlformats.org/drawingml/2006/main">
            <a:r>
              <a:t>新：第一步为测评集名称，描述紧随；第二步才关联智能体。</a:t>
            </a:r>
          </a:p>
          <a:p xmlns:a="http://schemas.openxmlformats.org/drawingml/2006/main">
            <a:r>
              <a:t>源码旧：/Users/baibo/915-NH-WEB/frontend/src/views/datasets/components/DatasetCreateForm.vue:277</a:t>
            </a:r>
          </a:p>
          <a:p xmlns:a="http://schemas.openxmlformats.org/drawingml/2006/main">
            <a:r>
              <a:t>源码新：/Users/baibo/915-HN-AgentGate/frontend/src/views/datasets/components/DatasetCreateForm.vue:274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DS02 降低创建前置条件</a:t>
            </a:r>
          </a:p>
          <a:p xmlns:a="http://schemas.openxmlformats.org/drawingml/2006/main">
            <a:r>
              <a:t>旧：创建必须确认智能体、填写名称描述并至少一个场景标签。</a:t>
            </a:r>
          </a:p>
          <a:p xmlns:a="http://schemas.openxmlformats.org/drawingml/2006/main">
            <a:r>
              <a:t>新：只必填名称；描述改为单行选填，场景标签选填，可先建立空测评集。</a:t>
            </a:r>
          </a:p>
          <a:p xmlns:a="http://schemas.openxmlformats.org/drawingml/2006/main">
            <a:r>
              <a:t>源码旧：/Users/baibo/915-NH-WEB/frontend/src/views/datasets/components/DatasetCreateForm.vue:233</a:t>
            </a:r>
          </a:p>
          <a:p xmlns:a="http://schemas.openxmlformats.org/drawingml/2006/main">
            <a:r>
              <a:t>源码新：/Users/baibo/915-HN-AgentGate/frontend/src/views/datasets/components/DatasetCreateForm.vue:233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DS03 关联智能体接入统一目录选择</a:t>
            </a:r>
          </a:p>
          <a:p xmlns:a="http://schemas.openxmlformats.org/drawingml/2006/main">
            <a:r>
              <a:t>旧：以 /bank-targets 为目录，基础编排/工作流/云虾及登记版本选择。</a:t>
            </a:r>
          </a:p>
          <a:p xmlns:a="http://schemas.openxmlformats.org/drawingml/2006/main">
            <a:r>
              <a:t>新：接入统一 AgentTargetPicker，沿用登录时的行内/行外模式与个人/团队空间；智能体→分支地址→版本级联，类型由目录识别，按来源匹配历史会话。</a:t>
            </a:r>
          </a:p>
          <a:p xmlns:a="http://schemas.openxmlformats.org/drawingml/2006/main">
            <a:r>
              <a:t>源码旧：/Users/baibo/915-NH-WEB/frontend/src/views/datasets/components/DatasetCreateForm.vue:156</a:t>
            </a:r>
          </a:p>
          <a:p xmlns:a="http://schemas.openxmlformats.org/drawingml/2006/main">
            <a:r>
              <a:t>源码新：/Users/baibo/915-HN-AgentGate/frontend/src/views/datasets/components/DatasetCreateForm.vue:14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SH06 收敛弹窗尺寸与滚动</a:t>
            </a:r>
          </a:p>
          <a:p xmlns:a="http://schemas.openxmlformats.org/drawingml/2006/main">
            <a:r>
              <a:t>旧：通用弹窗最大88vh，创建测评集/新增样本分别1060/1050px。</a:t>
            </a:r>
          </a:p>
          <a:p xmlns:a="http://schemas.openxmlformats.org/drawingml/2006/main">
            <a:r>
              <a:t>新：通用最大80vh并约束内部滚动；创建测评集/新增样本均800px，确认框标题/按钮更紧凑。</a:t>
            </a:r>
          </a:p>
          <a:p xmlns:a="http://schemas.openxmlformats.org/drawingml/2006/main">
            <a:r>
              <a:t>源码旧：/Users/baibo/915-NH-WEB/frontend/src/styles/revision.scss:202</a:t>
            </a:r>
          </a:p>
          <a:p xmlns:a="http://schemas.openxmlformats.org/drawingml/2006/main">
            <a:r>
              <a:t>源码新：/Users/baibo/915-HN-AgentGate/frontend/src/styles/revision.scss:239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旧/左图：/Users/baibo/915-HN-AgentGate/runtime/ui-comparison-20261009/screenshots/datasets-sample-basic-old.png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新/右图：/Users/baibo/915-HN-AgentGate/runtime/ui-comparison-20261009/screenshots/datasets-sample-basic-new.png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删除的是录入控件；既有样本的原值保留。默认字段简化也减少了专业用户可直接调整的入口。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DS05 精简基础录入字段</a:t>
            </a:r>
          </a:p>
          <a:p xmlns:a="http://schemas.openxmlformats.org/drawingml/2006/main">
            <a:r>
              <a:t>旧：顶部含输入字段、样本名称、分类、场景标签四组字段。</a:t>
            </a:r>
          </a:p>
          <a:p xmlns:a="http://schemas.openxmlformats.org/drawingml/2006/main">
            <a:r>
              <a:t>新：仅留样本名称；新样本默认 txt 输入和正例，已有数据仍保留原值。</a:t>
            </a:r>
          </a:p>
          <a:p xmlns:a="http://schemas.openxmlformats.org/drawingml/2006/main">
            <a:r>
              <a:t>源码旧：/Users/baibo/915-NH-WEB/frontend/src/views/datasets/components/SampleEditor.vue:153</a:t>
            </a:r>
          </a:p>
          <a:p xmlns:a="http://schemas.openxmlformats.org/drawingml/2006/main">
            <a:r>
              <a:t>源码新：/Users/baibo/915-HN-AgentGate/frontend/src/views/datasets/components/SampleEditor.vue:183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DS06 基本与高级测评项分区</a:t>
            </a:r>
          </a:p>
          <a:p xmlns:a="http://schemas.openxmlformats.org/drawingml/2006/main">
            <a:r>
              <a:t>旧：输入、输出、工具纵向堆叠，Skill 在折叠高级检查里。</a:t>
            </a:r>
          </a:p>
          <a:p xmlns:a="http://schemas.openxmlformats.org/drawingml/2006/main">
            <a:r>
              <a:t>新：基本测评项集中输入/期望/规则；高级测评项展示工具和 Skill，其他条件及备注折叠。</a:t>
            </a:r>
          </a:p>
          <a:p xmlns:a="http://schemas.openxmlformats.org/drawingml/2006/main">
            <a:r>
              <a:t>源码旧：/Users/baibo/915-NH-WEB/frontend/src/views/datasets/components/SampleEditor.vue:197</a:t>
            </a:r>
          </a:p>
          <a:p xmlns:a="http://schemas.openxmlformats.org/drawingml/2006/main">
            <a:r>
              <a:t>源码新：/Users/baibo/915-HN-AgentGate/frontend/src/views/datasets/components/SampleEditor.vue:206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DS07 输入与期望并排对照</a:t>
            </a:r>
          </a:p>
          <a:p xmlns:a="http://schemas.openxmlformats.org/drawingml/2006/main">
            <a:r>
              <a:t>旧：用户输入与 AI·期望输出上下排列。</a:t>
            </a:r>
          </a:p>
          <a:p xmlns:a="http://schemas.openxmlformats.org/drawingml/2006/main">
            <a:r>
              <a:t>新：用户输入与 System·期望输出左右并排，仍可切换 JSON。</a:t>
            </a:r>
          </a:p>
          <a:p xmlns:a="http://schemas.openxmlformats.org/drawingml/2006/main">
            <a:r>
              <a:t>源码旧：/Users/baibo/915-NH-WEB/frontend/src/views/datasets/components/SampleEditor.vue:197</a:t>
            </a:r>
          </a:p>
          <a:p xmlns:a="http://schemas.openxmlformats.org/drawingml/2006/main">
            <a:r>
              <a:t>源码新：/Users/baibo/915-HN-AgentGate/frontend/src/views/datasets/components/SampleEditor.vue:208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旧/左图：/Users/baibo/915-HN-AgentGate/runtime/ui-comparison-20261009/screenshots/datasets-sample-rules-old.png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新/右图：/Users/baibo/915-HN-AgentGate/runtime/ui-comparison-20261009/screenshots/datasets-sample-rules-new.png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多条期望与条件枚举旧版已有；当前新建多行共享顶部期望输出，不应理解为各行独立期望文本。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DS08 将输出路径及评估方式直接暴露</a:t>
            </a:r>
          </a:p>
          <a:p xmlns:a="http://schemas.openxmlformats.org/drawingml/2006/main">
            <a:r>
              <a:t>旧：完整输出等于规则隐藏在主期望区，其他规则经高级检查→添加期望配置。</a:t>
            </a:r>
          </a:p>
          <a:p xmlns:a="http://schemas.openxmlformats.org/drawingml/2006/main">
            <a:r>
              <a:t>新：基本区直接显示输出路径/评估方式，支持增加多行和删除且至少留一行；去掉检查名称等冗余。</a:t>
            </a:r>
          </a:p>
          <a:p xmlns:a="http://schemas.openxmlformats.org/drawingml/2006/main">
            <a:r>
              <a:t>源码旧：/Users/baibo/915-NH-WEB/frontend/src/views/datasets/components/ExpectationEditor.vue:102</a:t>
            </a:r>
          </a:p>
          <a:p xmlns:a="http://schemas.openxmlformats.org/drawingml/2006/main">
            <a:r>
              <a:t>源码新：/Users/baibo/915-HN-AgentGate/frontend/src/views/datasets/components/ExpectationEditor.vue:122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旧/左图：/Users/baibo/915-HN-AgentGate/runtime/ui-comparison-20261009/screenshots/datasets-sample-advanced-old.png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新/右图：/Users/baibo/915-HN-AgentGate/runtime/ui-comparison-20261009/screenshots/datasets-sample-advanced-new.png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 DS06 的补充证据，不重复计数；工具和 Skill 检查本身不是本次新建能力。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DS06 基本与高级测评项分区</a:t>
            </a:r>
          </a:p>
          <a:p xmlns:a="http://schemas.openxmlformats.org/drawingml/2006/main">
            <a:r>
              <a:t>旧：输入、输出、工具纵向堆叠，Skill 在折叠高级检查里。</a:t>
            </a:r>
          </a:p>
          <a:p xmlns:a="http://schemas.openxmlformats.org/drawingml/2006/main">
            <a:r>
              <a:t>新：基本测评项集中输入/期望/规则；高级测评项展示工具和 Skill，其他条件及备注折叠。</a:t>
            </a:r>
          </a:p>
          <a:p xmlns:a="http://schemas.openxmlformats.org/drawingml/2006/main">
            <a:r>
              <a:t>源码旧：/Users/baibo/915-NH-WEB/frontend/src/views/datasets/components/SampleEditor.vue:197</a:t>
            </a:r>
          </a:p>
          <a:p xmlns:a="http://schemas.openxmlformats.org/drawingml/2006/main">
            <a:r>
              <a:t>源码新：/Users/baibo/915-HN-AgentGate/frontend/src/views/datasets/components/SampleEditor.vue:206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旧/左图：/Users/baibo/915-HN-AgentGate/runtime/ui-comparison-20261009/screenshots/datasets-execution-import-old.png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新/右图：/Users/baibo/915-HN-AgentGate/runtime/ui-comparison-20261009/screenshots/datasets-execution-import-new.png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只解析预览，未确认导入。当前预览“期望检查”未计入路径检查，仍显示 0，属于待修复展示遗漏。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DS09 支持导入并保留执行路径检查</a:t>
            </a:r>
          </a:p>
          <a:p xmlns:a="http://schemas.openxmlformats.org/drawingml/2006/main">
            <a:r>
              <a:t>旧：导入类型白名单不含 execution_path，相关样本报未知期望类型。</a:t>
            </a:r>
          </a:p>
          <a:p xmlns:a="http://schemas.openxmlformats.org/drawingml/2006/main">
            <a:r>
              <a:t>新：支持 workflow/tool/skill 执行路径校验；编辑器可展开查看原始检查，保存保留。</a:t>
            </a:r>
          </a:p>
          <a:p xmlns:a="http://schemas.openxmlformats.org/drawingml/2006/main">
            <a:r>
              <a:t>源码旧：/Users/baibo/915-NH-WEB/frontend/src/views/datasets/utils/sample-import.ts:205</a:t>
            </a:r>
          </a:p>
          <a:p xmlns:a="http://schemas.openxmlformats.org/drawingml/2006/main">
            <a:r>
              <a:t>源码新：/Users/baibo/915-HN-AgentGate/frontend/src/views/datasets/utils/sample-import.ts:39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旧/左图：/Users/baibo/915-HN-AgentGate/runtime/ui-comparison-20261009/screenshots/datasets-delete-old.png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新/右图：/Users/baibo/915-HN-AgentGate/runtime/ui-comparison-20261009/screenshots/datasets-delete-new.png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两图使用同一个仅草稿状态样例；未执行任何删除。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DS10 可清理仅草稿的整个测评集</a:t>
            </a:r>
          </a:p>
          <a:p xmlns:a="http://schemas.openxmlformats.org/drawingml/2006/main">
            <a:r>
              <a:t>旧：仅删除草稿；整个记录删除显示接口不支持。</a:t>
            </a:r>
          </a:p>
          <a:p xmlns:a="http://schemas.openxmlformats.org/drawingml/2006/main">
            <a:r>
              <a:t>新：无已发布版本时可删除整个记录，二次确认；含发布版本仍只允许删草稿。</a:t>
            </a:r>
          </a:p>
          <a:p xmlns:a="http://schemas.openxmlformats.org/drawingml/2006/main">
            <a:r>
              <a:t>源码旧：/Users/baibo/915-NH-WEB/frontend/src/views/datasets/index.vue:964</a:t>
            </a:r>
          </a:p>
          <a:p xmlns:a="http://schemas.openxmlformats.org/drawingml/2006/main">
            <a:r>
              <a:t>源码新：/Users/baibo/915-HN-AgentGate/frontend/src/views/datasets/index.vue:100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旧/左图：/Users/baibo/915-HN-AgentGate/runtime/ui-comparison-20261009/screenshots/annotation-old-catalog.png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新/右图：/Users/baibo/915-HN-AgentGate/runtime/ui-comparison-20261009/screenshots/annotation-new-catalog.png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两图为隔离浏览器中的演示模版；模版与标注记录仍保存在本浏览器。 本页分别截取创建入口与模版卡片。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SH04 统一主要操作按钮</a:t>
            </a:r>
          </a:p>
          <a:p xmlns:a="http://schemas.openxmlformats.org/drawingml/2006/main">
            <a:r>
              <a:t>旧：标注/评估器 asset-primary 深绿色覆盖样式，和创建数据集不同。</a:t>
            </a:r>
          </a:p>
          <a:p xmlns:a="http://schemas.openxmlformats.org/drawingml/2006/main">
            <a:r>
              <a:t>新：asset-primary 与 primary 共用绿色、字重、内边距和交互态。</a:t>
            </a:r>
          </a:p>
          <a:p xmlns:a="http://schemas.openxmlformats.org/drawingml/2006/main">
            <a:r>
              <a:t>源码旧：/Users/baibo/915-NH-WEB/frontend/src/styles/review-assets.scss:128</a:t>
            </a:r>
          </a:p>
          <a:p xmlns:a="http://schemas.openxmlformats.org/drawingml/2006/main">
            <a:r>
              <a:t>源码新：/Users/baibo/915-HN-AgentGate/frontend/src/styles/main.scss:110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AN01 V1、V2 模版独立入口与详情/标注分流</a:t>
            </a:r>
          </a:p>
          <a:p xmlns:a="http://schemas.openxmlformats.org/drawingml/2006/main">
            <a:r>
              <a:t>旧：单一创建标注模板入口，卡片点击进入标注。</a:t>
            </a:r>
          </a:p>
          <a:p xmlns:a="http://schemas.openxmlformats.org/drawingml/2006/main">
            <a:r>
              <a:t>新：保留 V1 并新增 V2 创建入口；V2 卡片展示版本标识、模版详情和开始标注两个明确动作。</a:t>
            </a:r>
          </a:p>
          <a:p xmlns:a="http://schemas.openxmlformats.org/drawingml/2006/main">
            <a:r>
              <a:t>源码旧：/Users/baibo/915-NH-WEB/frontend/src/views/evaluation/components/AnnotationAssets.vue:505</a:t>
            </a:r>
          </a:p>
          <a:p xmlns:a="http://schemas.openxmlformats.org/drawingml/2006/main">
            <a:r>
              <a:t>源码新：/Users/baibo/915-HN-AgentGate/frontend/src/views/evaluation/components/AnnotationAssets.vue:861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旧/左图：/Users/baibo/915-HN-AgentGate/runtime/ui-comparison-20261009/screenshots/annotation-old-create.png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新/右图：/Users/baibo/915-HN-AgentGate/runtime/ui-comparison-20261009/screenshots/annotation-new-create-default.png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旧目录使用契约演示响应；“智能体人工标注”执行页仅有“待设计”标题，未计为已完成功能。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AN02 关联精确 Agent、分支、版本并按登录模式读取目录</a:t>
            </a:r>
          </a:p>
          <a:p xmlns:a="http://schemas.openxmlformats.org/drawingml/2006/main">
            <a:r>
              <a:t>旧：/bank-targets 的单一关联智能体下拉；模板只保存 agent 引用，未让用户选分支版本。</a:t>
            </a:r>
          </a:p>
          <a:p xmlns:a="http://schemas.openxmlformats.org/drawingml/2006/main">
            <a:r>
              <a:t>新：通过统一目录选择智能体、分支和版本；团队/个人空间在登录时确定，类型由目录识别。行内/行外数据源分流，按精确版本筛选待标注会话。</a:t>
            </a:r>
          </a:p>
          <a:p xmlns:a="http://schemas.openxmlformats.org/drawingml/2006/main">
            <a:r>
              <a:t>源码旧：/Users/baibo/915-NH-WEB/frontend/src/views/evaluation/components/AnnotationAssets.vue:658</a:t>
            </a:r>
          </a:p>
          <a:p xmlns:a="http://schemas.openxmlformats.org/drawingml/2006/main">
            <a:r>
              <a:t>源码新：/Users/baibo/915-HN-AgentGate/frontend/src/views/evaluation/components/AnnotationAssets.vue:1048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AN03 按标注对象开关配置维度与标签</a:t>
            </a:r>
          </a:p>
          <a:p xmlns:a="http://schemas.openxmlformats.org/drawingml/2006/main">
            <a:r>
              <a:t>旧：消息评分与工具评分两块固定展示，默认评分范围 0—5。</a:t>
            </a:r>
          </a:p>
          <a:p xmlns:a="http://schemas.openxmlformats.org/drawingml/2006/main">
            <a:r>
              <a:t>新：测评集、评估器、智能体三类对象可勾选展开各自维度/标签；V2 默认 0—100。智能体执行页仍待设计，不计为已完成的智能体标注。</a:t>
            </a:r>
          </a:p>
          <a:p xmlns:a="http://schemas.openxmlformats.org/drawingml/2006/main">
            <a:r>
              <a:t>源码旧：/Users/baibo/915-NH-WEB/frontend/src/views/evaluation/components/AnnotationAssets.vue:680</a:t>
            </a:r>
          </a:p>
          <a:p xmlns:a="http://schemas.openxmlformats.org/drawingml/2006/main">
            <a:r>
              <a:t>源码新：/Users/baibo/915-HN-AgentGate/frontend/src/views/evaluation/components/AnnotationAssets.vue:1077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旧/左图：/Users/baibo/915-HN-AgentGate/runtime/ui-comparison-20261009/screenshots/annotation-old-list.png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新/右图：/Users/baibo/915-HN-AgentGate/runtime/ui-comparison-20261009/screenshots/annotation-new-list.png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Bad Case 依据主评估器失败、错误或待复核判定，不是人为设置的低分阈值。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AN04 以任务、综合分、测评时间建立会话上下文</a:t>
            </a:r>
          </a:p>
          <a:p xmlns:a="http://schemas.openxmlformats.org/drawingml/2006/main">
            <a:r>
              <a:t>旧：会话名称、标注状态、消息数、进度、创建时间。</a:t>
            </a:r>
          </a:p>
          <a:p xmlns:a="http://schemas.openxmlformats.org/drawingml/2006/main">
            <a:r>
              <a:t>新：显示测评任务、会话名称、综合分、标注状态、测评时间；去除消息数和进度冗余，操作列位于末尾。</a:t>
            </a:r>
          </a:p>
          <a:p xmlns:a="http://schemas.openxmlformats.org/drawingml/2006/main">
            <a:r>
              <a:t>源码旧：/Users/baibo/915-NH-WEB/frontend/src/views/evaluation/components/AnnotationAssets.vue:777</a:t>
            </a:r>
          </a:p>
          <a:p xmlns:a="http://schemas.openxmlformats.org/drawingml/2006/main">
            <a:r>
              <a:t>源码新：/Users/baibo/915-HN-AgentGate/frontend/src/views/evaluation/components/AnnotationV2Workspace.vue:82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AN05 列头按需筛选、分数区间与 Bad Case 直达</a:t>
            </a:r>
          </a:p>
          <a:p xmlns:a="http://schemas.openxmlformats.org/drawingml/2006/main">
            <a:r>
              <a:t>旧：页面常驻会话名称搜索框和标注状态下拉。</a:t>
            </a:r>
          </a:p>
          <a:p xmlns:a="http://schemas.openxmlformats.org/drawingml/2006/main">
            <a:r>
              <a:t>新：各列通过过滤图标弹出控件；支持任务、名称、综合分区间/Bad Case、状态、时间，并有单列小叉清空及全局清空。</a:t>
            </a:r>
          </a:p>
          <a:p xmlns:a="http://schemas.openxmlformats.org/drawingml/2006/main">
            <a:r>
              <a:t>源码旧：/Users/baibo/915-NH-WEB/frontend/src/views/evaluation/components/AnnotationAssets.vue:761</a:t>
            </a:r>
          </a:p>
          <a:p xmlns:a="http://schemas.openxmlformats.org/drawingml/2006/main">
            <a:r>
              <a:t>源码新：/Users/baibo/915-HN-AgentGate/frontend/src/views/evaluation/components/AnnotationV2Workspace.vue:266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AN06 明确免标注与恢复标注动作</a:t>
            </a:r>
          </a:p>
          <a:p xmlns:a="http://schemas.openxmlformats.org/drawingml/2006/main">
            <a:r>
              <a:t>旧：行内跳过会话 / 恢复会话，状态为已跳过。</a:t>
            </a:r>
          </a:p>
          <a:p xmlns:a="http://schemas.openxmlformats.org/drawingml/2006/main">
            <a:r>
              <a:t>新：操作统一为开始标注、免标注；支持恢复标注，列表及概览直接显示免标注状态。</a:t>
            </a:r>
          </a:p>
          <a:p xmlns:a="http://schemas.openxmlformats.org/drawingml/2006/main">
            <a:r>
              <a:t>源码旧：/Users/baibo/915-NH-WEB/frontend/src/views/evaluation/components/AnnotationAssets.vue:820</a:t>
            </a:r>
          </a:p>
          <a:p xmlns:a="http://schemas.openxmlformats.org/drawingml/2006/main">
            <a:r>
              <a:t>源码新：/Users/baibo/915-HN-AgentGate/frontend/src/views/evaluation/components/AnnotationV2Workspace.vue:380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旧/左图：/Users/baibo/915-HN-AgentGate/runtime/ui-comparison-20261009/screenshots/annotation-old-list.png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新/右图：/Users/baibo/915-HN-AgentGate/runtime/ui-comparison-20261009/screenshots/annotation-new-score-filter.png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本页补充 AN05 的交互证据，不重复计数；演示筛选未修改会话或标注。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AN05 列头按需筛选、分数区间与 Bad Case 直达</a:t>
            </a:r>
          </a:p>
          <a:p xmlns:a="http://schemas.openxmlformats.org/drawingml/2006/main">
            <a:r>
              <a:t>旧：页面常驻会话名称搜索框和标注状态下拉。</a:t>
            </a:r>
          </a:p>
          <a:p xmlns:a="http://schemas.openxmlformats.org/drawingml/2006/main">
            <a:r>
              <a:t>新：各列通过过滤图标弹出控件；支持任务、名称、综合分区间/Bad Case、状态、时间，并有单列小叉清空及全局清空。</a:t>
            </a:r>
          </a:p>
          <a:p xmlns:a="http://schemas.openxmlformats.org/drawingml/2006/main">
            <a:r>
              <a:t>源码旧：/Users/baibo/915-NH-WEB/frontend/src/views/evaluation/components/AnnotationAssets.vue:761</a:t>
            </a:r>
          </a:p>
          <a:p xmlns:a="http://schemas.openxmlformats.org/drawingml/2006/main">
            <a:r>
              <a:t>源码新：/Users/baibo/915-HN-AgentGate/frontend/src/views/evaluation/components/AnnotationV2Workspace.vue:266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旧/左图：/Users/baibo/915-HN-AgentGate/runtime/ui-comparison-20261009/screenshots/annotation-old-detail.png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新/右图：/Users/baibo/915-HN-AgentGate/runtime/ui-comparison-20261009/screenshots/annotation-new-dataset-detail.png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两图为同一个模拟样本；右侧意见不会自动影响已有自动评分结果。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AN07 按轮次/对象组织左右对照标注</a:t>
            </a:r>
          </a:p>
          <a:p xmlns:a="http://schemas.openxmlformats.org/drawingml/2006/main">
            <a:r>
              <a:t>旧：每轮用户输入、实际回答与消息评分并排；评语为多行，原始期望未展示。</a:t>
            </a:r>
          </a:p>
          <a:p xmlns:a="http://schemas.openxmlformats.org/drawingml/2006/main">
            <a:r>
              <a:t>新：按勾选对象在每轮组织标注区；测评集区左侧同时呈现输入、实际、期望，右侧评分/标签/单行评语/修订期望，评分框收窄。</a:t>
            </a:r>
          </a:p>
          <a:p xmlns:a="http://schemas.openxmlformats.org/drawingml/2006/main">
            <a:r>
              <a:t>源码旧：/Users/baibo/915-NH-WEB/frontend/src/views/evaluation/components/AnnotationAssets.vue:866</a:t>
            </a:r>
          </a:p>
          <a:p xmlns:a="http://schemas.openxmlformats.org/drawingml/2006/main">
            <a:r>
              <a:t>源码新：/Users/baibo/915-HN-AgentGate/frontend/src/views/evaluation/components/AnnotationV2Editor.vue:139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旧/左图：/Users/baibo/915-HN-AgentGate/runtime/ui-comparison-20261009/screenshots/annotation-old-tool-review.png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新/右图：/Users/baibo/915-HN-AgentGate/runtime/ui-comparison-20261009/screenshots/annotation-new-tool-review.png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此历史 Trace 部分参数/返回值缺失；展开原始属性可查看已有证据，不能把“—”视为完整采集。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AN08 工具评分落到真实调用证据与规则期望</a:t>
            </a:r>
          </a:p>
          <a:p xmlns:a="http://schemas.openxmlformats.org/drawingml/2006/main">
            <a:r>
              <a:t>旧：模板可配置工具评分维度，但会话页只渲染消息评分；没有逐调用工具标注区。</a:t>
            </a:r>
          </a:p>
          <a:p xmlns:a="http://schemas.openxmlformats.org/drawingml/2006/main">
            <a:r>
              <a:t>新：展示真实 Trace 的工具参数/返回值/所属轮次，逐调用评分/标签/评语；可配置必须或禁止调用及参数匹配规则。</a:t>
            </a:r>
          </a:p>
          <a:p xmlns:a="http://schemas.openxmlformats.org/drawingml/2006/main">
            <a:r>
              <a:t>源码旧：/Users/baibo/915-NH-WEB/frontend/src/views/evaluation/components/AnnotationAssets.vue:866</a:t>
            </a:r>
          </a:p>
          <a:p xmlns:a="http://schemas.openxmlformats.org/drawingml/2006/main">
            <a:r>
              <a:t>源码新：/Users/baibo/915-HN-AgentGate/frontend/src/views/evaluation/components/AnnotationAssets.vue:1461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旧/左图：/Users/baibo/915-HN-AgentGate/runtime/ui-comparison-20261009/screenshots/annotation-old-detail.png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新/右图：/Users/baibo/915-HN-AgentGate/runtime/ui-comparison-20261009/screenshots/annotation-new-evaluator-expanded.png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补充截图：/Users/baibo/915-HN-AgentGate/runtime/ui-comparison-20261009/screenshots/annotation-new-rule-code.png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旧版最近对应页见第 25 页。关键代码来自当前服务的对应实现，不等于历史运行源码快照。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AN09 规则评估器证据、结果、关键代码联动折叠</a:t>
            </a:r>
          </a:p>
          <a:p xmlns:a="http://schemas.openxmlformats.org/drawingml/2006/main">
            <a:r>
              <a:t>旧：没有对本次实际评估器的人工审阅表单。</a:t>
            </a:r>
          </a:p>
          <a:p xmlns:a="http://schemas.openxmlformats.org/drawingml/2006/main">
            <a:r>
              <a:t>新：列出运行配置的每个评估器；规则默认折叠，展开后左右同时展示期望/实际证据、结果、当前实现关键代码与人工评分。</a:t>
            </a:r>
          </a:p>
          <a:p xmlns:a="http://schemas.openxmlformats.org/drawingml/2006/main">
            <a:r>
              <a:t>源码旧：/Users/baibo/915-NH-WEB/frontend/src/views/evaluation/components/AnnotationAssets.vue:866</a:t>
            </a:r>
          </a:p>
          <a:p xmlns:a="http://schemas.openxmlformats.org/drawingml/2006/main">
            <a:r>
              <a:t>源码新：/Users/baibo/915-HN-AgentGate/frontend/src/views/evaluation/components/EvaluatorAnnotation.vue:33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旧/左图：/Users/baibo/915-HN-AgentGate/runtime/ui-comparison-20261009/screenshots/annotation-old-detail.png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新/右图：/Users/baibo/915-HN-AgentGate/runtime/ui-comparison-20261009/screenshots/annotation-new-llm-evidence-fixture.png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右图为明确的 API 演示响应，未调用真实 LLM，也不是该历史运行的实际评估。优化提示词尚未自动发布或重跑。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AN10 LLM 实际提示词/证据/响应与优化提示词录入</a:t>
            </a:r>
          </a:p>
          <a:p xmlns:a="http://schemas.openxmlformats.org/drawingml/2006/main">
            <a:r>
              <a:t>旧：没有本次 LLM 评估请求和完整响应的人工审阅入口。</a:t>
            </a:r>
          </a:p>
          <a:p xmlns:a="http://schemas.openxmlformats.org/drawingml/2006/main">
            <a:r>
              <a:t>新：显示系统提示词、请求证据、评估结果、完整响应，并区分实际留存与重建来源；右侧录入优化提示词随标注保存。</a:t>
            </a:r>
          </a:p>
          <a:p xmlns:a="http://schemas.openxmlformats.org/drawingml/2006/main">
            <a:r>
              <a:t>源码旧：/Users/baibo/915-NH-WEB/frontend/src/views/evaluation/components/AnnotationAssets.vue:866</a:t>
            </a:r>
          </a:p>
          <a:p xmlns:a="http://schemas.openxmlformats.org/drawingml/2006/main">
            <a:r>
              <a:t>源码新：/Users/baibo/915-HN-AgentGate/frontend/src/views/evaluation/components/EvaluatorAnnotation.vue:56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旧/左图：/Users/baibo/915-HN-AgentGate/runtime/ui-comparison-20261009/screenshots/annotation-old-detail.png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新/右图：/Users/baibo/915-HN-AgentGate/runtime/ui-comparison-20261009/screenshots/annotation-new-export-preview.png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补充截图：/Users/baibo/915-HN-AgentGate/runtime/ui-comparison-20261009/screenshots/annotation-new-dataset-detail.png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右图展示测评集模块底部入口与导出预览。未点击确认；标注本体仍在浏览器中。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AN11 人工标注导出新测评集草稿</a:t>
            </a:r>
          </a:p>
          <a:p xmlns:a="http://schemas.openxmlformats.org/drawingml/2006/main">
            <a:r>
              <a:t>旧：标注仅在浏览器保存，未提供测评集出口。</a:t>
            </a:r>
          </a:p>
          <a:p xmlns:a="http://schemas.openxmlformats.org/drawingml/2006/main">
            <a:r>
              <a:t>新：V1、V2 均可将已保存标注转换为新测评集草稿；V2 操作位于测评集标注区底部，含预览及目标跳转。</a:t>
            </a:r>
          </a:p>
          <a:p xmlns:a="http://schemas.openxmlformats.org/drawingml/2006/main">
            <a:r>
              <a:t>源码旧：/Users/baibo/915-NH-WEB/frontend/src/views/evaluation/components/AnnotationAssets.vue:903</a:t>
            </a:r>
          </a:p>
          <a:p xmlns:a="http://schemas.openxmlformats.org/drawingml/2006/main">
            <a:r>
              <a:t>源码新：/Users/baibo/915-HN-AgentGate/frontend/src/views/evaluation/components/AnnotationV2Feedback.vue:126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AN12 修订期望回写原测评集草稿</a:t>
            </a:r>
          </a:p>
          <a:p xmlns:a="http://schemas.openxmlformats.org/drawingml/2006/main">
            <a:r>
              <a:t>旧：人工期望只是本地标注字段，未影响后端样本期望。</a:t>
            </a:r>
          </a:p>
          <a:p xmlns:a="http://schemas.openxmlformats.org/drawingml/2006/main">
            <a:r>
              <a:t>新：已保存人工期望可预览并回写原测评集草稿；校验输入/轮次/样本存在性及草稿变化，发布版本保持不变。</a:t>
            </a:r>
          </a:p>
          <a:p xmlns:a="http://schemas.openxmlformats.org/drawingml/2006/main">
            <a:r>
              <a:t>源码旧：/Users/baibo/915-NH-WEB/frontend/src/views/evaluation/components/AnnotationAssets.vue:891</a:t>
            </a:r>
          </a:p>
          <a:p xmlns:a="http://schemas.openxmlformats.org/drawingml/2006/main">
            <a:r>
              <a:t>源码新：/Users/baibo/915-HN-AgentGate/frontend/src/views/evaluation/components/AnnotationV2Feedback.vue:77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旧/左图：/Users/baibo/915-HN-AgentGate/runtime/ui-comparison-20261009/screenshots/evaluator-baseline-design-bottom.png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新/右图：/Users/baibo/915-HN-AgentGate/runtime/ui-comparison-20261009/screenshots/evaluator-current-design-bottom.png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截图为相同演示设计的未提交编辑态；持久化结论由保存/读取接口实现与既有浏览器测试支撑。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EV01 LLM 设计保存为后端可恢复草稿</a:t>
            </a:r>
          </a:p>
          <a:p xmlns:a="http://schemas.openxmlformats.org/drawingml/2006/main">
            <a:r>
              <a:t>旧：保存 UX 设计只更新页内数组；页面明确提示刷新后清除。</a:t>
            </a:r>
          </a:p>
          <a:p xmlns:a="http://schemas.openxmlformats.org/drawingml/2006/main">
            <a:r>
              <a:t>新：保存完整名称、描述、模型、范围、阈值、维度提示词及权重到后端；重新进入可继续编辑草稿，列表显示草稿状态。</a:t>
            </a:r>
          </a:p>
          <a:p xmlns:a="http://schemas.openxmlformats.org/drawingml/2006/main">
            <a:r>
              <a:t>源码旧：/Users/baibo/915-NH-WEB/frontend/src/views/evaluation/components/JudgeSystem.vue:161</a:t>
            </a:r>
          </a:p>
          <a:p xmlns:a="http://schemas.openxmlformats.org/drawingml/2006/main">
            <a:r>
              <a:t>源码新：/Users/baibo/915-HN-AgentGate/frontend/src/views/evaluation/components/JudgeSystem.vue:226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旧/左图：/Users/baibo/915-HN-AgentGate/runtime/ui-comparison-20261009/screenshots/evaluator-baseline-local-saved.png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新/右图：/Users/baibo/915-HN-AgentGate/runtime/ui-comparison-20261009/screenshots/evaluator-current-published.png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发布版本为 GET 样例，未发布真实资产；历史与运行配置追溯另经代码核验，发布不等于模型连通。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EV02 发布启用后可参与真实评估</a:t>
            </a:r>
          </a:p>
          <a:p xmlns:a="http://schemas.openxmlformats.org/drawingml/2006/main">
            <a:r>
              <a:t>旧：自建设计仅 UI 草稿，不能从设计直接成为可选择的已发布评估器。</a:t>
            </a:r>
          </a:p>
          <a:p xmlns:a="http://schemas.openxmlformats.org/drawingml/2006/main">
            <a:r>
              <a:t>新：发布并启用生成真实定义版本，维度提示词与权重写入 answer_quality@2，已发布启用版本可打开测评配置。</a:t>
            </a:r>
          </a:p>
          <a:p xmlns:a="http://schemas.openxmlformats.org/drawingml/2006/main">
            <a:r>
              <a:t>源码旧：/Users/baibo/915-NH-WEB/frontend/src/views/evaluation/components/JudgeSystem.vue:397</a:t>
            </a:r>
          </a:p>
          <a:p xmlns:a="http://schemas.openxmlformats.org/drawingml/2006/main">
            <a:r>
              <a:t>源码新：/Users/baibo/915-HN-AgentGate/frontend/src/views/evaluation/components/JudgeSystem.vue:259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EV03 发布版本与运行配置可追溯</a:t>
            </a:r>
          </a:p>
          <a:p xmlns:a="http://schemas.openxmlformats.org/drawingml/2006/main">
            <a:r>
              <a:t>旧：UX 版本历史是本页数组中的临时设计历史，刷新清除。</a:t>
            </a:r>
          </a:p>
          <a:p xmlns:a="http://schemas.openxmlformats.org/drawingml/2006/main">
            <a:r>
              <a:t>新：从后端查询发布版本，查看只读配置和内容指纹；编辑已发布版本先建立新版本草稿，保留历史。 任务配置页还展示运行时固定的维度、权重与提示词。</a:t>
            </a:r>
          </a:p>
          <a:p xmlns:a="http://schemas.openxmlformats.org/drawingml/2006/main">
            <a:r>
              <a:t>源码旧：/Users/baibo/915-NH-WEB/frontend/src/views/evaluation/components/JudgeSystem.vue:436</a:t>
            </a:r>
          </a:p>
          <a:p xmlns:a="http://schemas.openxmlformats.org/drawingml/2006/main">
            <a:r>
              <a:t>源码新：/Users/baibo/915-HN-AgentGate/frontend/src/views/evaluation/components/JudgeSystem.vue:317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本报告比较两套冻结源码快照；日期2026-10-09。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旧工程：/Users/baibo/915-NH-WEB/frontend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当前工程：/Users/baibo/915-HN-AgentGate/frontend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7a17b77dc49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3b303c5d848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1ee381b9d45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6c2a221db48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52fc9e53a40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8b02239bc4f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F7FE9C-6F2C-4766-9C0F-DB568D140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6D5D3F-BF1A-4F86-9DAF-AC424BB571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D65FB1-F024-4871-AEE4-90F14A6377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6547D1-86D5-4D33-AE29-C9912253B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DBA3F6-FE92-4785-9A09-28A02C9CE4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03FE50-5118-4CAC-A106-95A682460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76C8E4-0EEC-402B-987F-AFF6ACFD91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FD0A47-3E2E-4F95-BA00-907998D116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958363-A1BC-4153-A17D-F80BA0873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86BDD7-EB64-44C4-B773-4AE8F14BB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5a4cc68f148b8" /><Relationship Type="http://schemas.openxmlformats.org/officeDocument/2006/relationships/slideLayout" Target="/ppt/slideLayouts/slideLayout1.xml" Id="Rc07f5d8fc0b74836" /><Relationship Type="http://schemas.openxmlformats.org/officeDocument/2006/relationships/slideLayout" Target="/ppt/slideLayouts/slideLayout2.xml" Id="R5c67c416ab224b3f" /><Relationship Type="http://schemas.openxmlformats.org/officeDocument/2006/relationships/slideLayout" Target="/ppt/slideLayouts/slideLayout3.xml" Id="R69d290c017834d1f" /><Relationship Type="http://schemas.openxmlformats.org/officeDocument/2006/relationships/slideLayout" Target="/ppt/slideLayouts/slideLayout4.xml" Id="Rf226ea0cf5f64454" /><Relationship Type="http://schemas.openxmlformats.org/officeDocument/2006/relationships/slideLayout" Target="/ppt/slideLayouts/slideLayout5.xml" Id="R9b932f255e3d4f8f" /><Relationship Type="http://schemas.openxmlformats.org/officeDocument/2006/relationships/slideLayout" Target="/ppt/slideLayouts/slideLayout6.xml" Id="R4dee25b99628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7f5d8fc0b74836"/>
    <p:sldLayoutId xmlns:r="http://schemas.openxmlformats.org/officeDocument/2006/relationships" id="2147483650" r:id="R5c67c416ab224b3f"/>
    <p:sldLayoutId xmlns:r="http://schemas.openxmlformats.org/officeDocument/2006/relationships" id="2147483651" r:id="R69d290c017834d1f"/>
    <p:sldLayoutId xmlns:r="http://schemas.openxmlformats.org/officeDocument/2006/relationships" id="2147483652" r:id="Rf226ea0cf5f64454"/>
    <p:sldLayoutId xmlns:r="http://schemas.openxmlformats.org/officeDocument/2006/relationships" id="2147483653" r:id="R9b932f255e3d4f8f"/>
    <p:sldLayoutId xmlns:r="http://schemas.openxmlformats.org/officeDocument/2006/relationships" id="2147483654" r:id="R4dee25b99628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ab61cd8d64591" /><Relationship Type="http://schemas.openxmlformats.org/officeDocument/2006/relationships/notesSlide" Target="/ppt/notesSlides/notesSlide1.xml" Id="R0364073557144e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b6cbfa2454df5" /><Relationship Type="http://schemas.openxmlformats.org/officeDocument/2006/relationships/notesSlide" Target="/ppt/notesSlides/notesSlide2.xml" Id="Rc3d42f9952b6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86ed8597e43f6" /><Relationship Type="http://schemas.openxmlformats.org/officeDocument/2006/relationships/notesSlide" Target="/ppt/notesSlides/notesSlide3.xml" Id="Rfa2b2894290a45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a64fe9f3b49ed" /><Relationship Type="http://schemas.openxmlformats.org/officeDocument/2006/relationships/image" Target="/ppt/media/image.png" Id="Rf11294069ee34690" /><Relationship Type="http://schemas.openxmlformats.org/officeDocument/2006/relationships/image" Target="/ppt/media/image2.png" Id="R187cf5d3b6984197" /><Relationship Type="http://schemas.openxmlformats.org/officeDocument/2006/relationships/notesSlide" Target="/ppt/notesSlides/notesSlide4.xml" Id="Ref94c606cccc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e5f764c8f4248" /><Relationship Type="http://schemas.openxmlformats.org/officeDocument/2006/relationships/image" Target="/ppt/media/image3.png" Id="R3980651986284a8c" /><Relationship Type="http://schemas.openxmlformats.org/officeDocument/2006/relationships/image" Target="/ppt/media/image4.png" Id="Re9a1a14bd90b4aed" /><Relationship Type="http://schemas.openxmlformats.org/officeDocument/2006/relationships/notesSlide" Target="/ppt/notesSlides/notesSlide5.xml" Id="Rb472061b0a7348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cdfca3fbd4fcb" /><Relationship Type="http://schemas.openxmlformats.org/officeDocument/2006/relationships/image" Target="/ppt/media/image5.png" Id="R307143c8b0464c87" /><Relationship Type="http://schemas.openxmlformats.org/officeDocument/2006/relationships/image" Target="/ppt/media/image6.png" Id="R99df313ebbaf42d6" /><Relationship Type="http://schemas.openxmlformats.org/officeDocument/2006/relationships/notesSlide" Target="/ppt/notesSlides/notesSlide6.xml" Id="Rb5f3d12550c847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22c356e3344bd" /><Relationship Type="http://schemas.openxmlformats.org/officeDocument/2006/relationships/image" Target="/ppt/media/image7.png" Id="R403776b4dbc741c9" /><Relationship Type="http://schemas.openxmlformats.org/officeDocument/2006/relationships/image" Target="/ppt/media/image8.png" Id="Rc53e3f49890a4422" /><Relationship Type="http://schemas.openxmlformats.org/officeDocument/2006/relationships/notesSlide" Target="/ppt/notesSlides/notesSlide7.xml" Id="Rb5f8c25bd15d42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a96002d7a42a3" /><Relationship Type="http://schemas.openxmlformats.org/officeDocument/2006/relationships/image" Target="/ppt/media/image9.png" Id="Reec053b1ee814912" /><Relationship Type="http://schemas.openxmlformats.org/officeDocument/2006/relationships/image" Target="/ppt/media/image10.png" Id="Rffad069409fb4789" /><Relationship Type="http://schemas.openxmlformats.org/officeDocument/2006/relationships/notesSlide" Target="/ppt/notesSlides/notesSlide8.xml" Id="R060186155e4a4e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e2b0e84bf470d" /><Relationship Type="http://schemas.openxmlformats.org/officeDocument/2006/relationships/image" Target="/ppt/media/image11.png" Id="R132b6f2aa4bc4ab0" /><Relationship Type="http://schemas.openxmlformats.org/officeDocument/2006/relationships/image" Target="/ppt/media/image12.png" Id="Raf95e9bc2f404de2" /><Relationship Type="http://schemas.openxmlformats.org/officeDocument/2006/relationships/notesSlide" Target="/ppt/notesSlides/notesSlide9.xml" Id="R55e662d51dbe4c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9e023409b4952" /><Relationship Type="http://schemas.openxmlformats.org/officeDocument/2006/relationships/image" Target="/ppt/media/image13.png" Id="R2f1f9b8c80de4d17" /><Relationship Type="http://schemas.openxmlformats.org/officeDocument/2006/relationships/image" Target="/ppt/media/image14.png" Id="Racf38ed498a6456e" /><Relationship Type="http://schemas.openxmlformats.org/officeDocument/2006/relationships/notesSlide" Target="/ppt/notesSlides/notesSlide10.xml" Id="Rc769177db4f946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ff9f923fd4683" /><Relationship Type="http://schemas.openxmlformats.org/officeDocument/2006/relationships/image" Target="/ppt/media/image15.png" Id="R009f2c47d6014ea1" /><Relationship Type="http://schemas.openxmlformats.org/officeDocument/2006/relationships/image" Target="/ppt/media/image16.png" Id="R41017adfbeba4bc7" /><Relationship Type="http://schemas.openxmlformats.org/officeDocument/2006/relationships/notesSlide" Target="/ppt/notesSlides/notesSlide11.xml" Id="R1d6dbe42853e4f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ebd02d1bc4640" /><Relationship Type="http://schemas.openxmlformats.org/officeDocument/2006/relationships/image" Target="/ppt/media/image17.png" Id="Rd2d1d9d680a14d04" /><Relationship Type="http://schemas.openxmlformats.org/officeDocument/2006/relationships/image" Target="/ppt/media/image18.png" Id="R4ba752b22fed49a5" /><Relationship Type="http://schemas.openxmlformats.org/officeDocument/2006/relationships/notesSlide" Target="/ppt/notesSlides/notesSlide12.xml" Id="R6c3e481ac8164a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7d83e18c54403" /><Relationship Type="http://schemas.openxmlformats.org/officeDocument/2006/relationships/image" Target="/ppt/media/image19.png" Id="Ra7bebf6bad444d6a" /><Relationship Type="http://schemas.openxmlformats.org/officeDocument/2006/relationships/image" Target="/ppt/media/image20.png" Id="R8c14a324dfa34904" /><Relationship Type="http://schemas.openxmlformats.org/officeDocument/2006/relationships/notesSlide" Target="/ppt/notesSlides/notesSlide13.xml" Id="Re545b7a0d8dd4c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d9a0f7f1e4480" /><Relationship Type="http://schemas.openxmlformats.org/officeDocument/2006/relationships/image" Target="/ppt/media/image21.png" Id="R6734473153e1447d" /><Relationship Type="http://schemas.openxmlformats.org/officeDocument/2006/relationships/image" Target="/ppt/media/image22.png" Id="Rd13010281d2346d4" /><Relationship Type="http://schemas.openxmlformats.org/officeDocument/2006/relationships/notesSlide" Target="/ppt/notesSlides/notesSlide14.xml" Id="Rc18ebc48810c40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90f097cf244f2" /><Relationship Type="http://schemas.openxmlformats.org/officeDocument/2006/relationships/image" Target="/ppt/media/image23.png" Id="Ra452a34215784091" /><Relationship Type="http://schemas.openxmlformats.org/officeDocument/2006/relationships/image" Target="/ppt/media/image24.png" Id="Rcfe2c4e6fffc4e79" /><Relationship Type="http://schemas.openxmlformats.org/officeDocument/2006/relationships/notesSlide" Target="/ppt/notesSlides/notesSlide15.xml" Id="R61de443552d44a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e7ab2b8e04212" /><Relationship Type="http://schemas.openxmlformats.org/officeDocument/2006/relationships/image" Target="/ppt/media/image25.png" Id="R6f044591b64741ca" /><Relationship Type="http://schemas.openxmlformats.org/officeDocument/2006/relationships/image" Target="/ppt/media/image26.png" Id="R4aff2a30d2c74fd1" /><Relationship Type="http://schemas.openxmlformats.org/officeDocument/2006/relationships/notesSlide" Target="/ppt/notesSlides/notesSlide16.xml" Id="R98b30e5cf61a48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7ee5a39e04ad8" /><Relationship Type="http://schemas.openxmlformats.org/officeDocument/2006/relationships/image" Target="/ppt/media/image27.png" Id="Rc632ea8037d34339" /><Relationship Type="http://schemas.openxmlformats.org/officeDocument/2006/relationships/image" Target="/ppt/media/image28.png" Id="Rcca10b3c2a39497e" /><Relationship Type="http://schemas.openxmlformats.org/officeDocument/2006/relationships/notesSlide" Target="/ppt/notesSlides/notesSlide17.xml" Id="R3e012fa337eb4c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e141e534b4c0c" /><Relationship Type="http://schemas.openxmlformats.org/officeDocument/2006/relationships/image" Target="/ppt/media/image29.png" Id="Rfd1668eb4d334699" /><Relationship Type="http://schemas.openxmlformats.org/officeDocument/2006/relationships/image" Target="/ppt/media/image30.png" Id="Rd0e54184b16749ff" /><Relationship Type="http://schemas.openxmlformats.org/officeDocument/2006/relationships/notesSlide" Target="/ppt/notesSlides/notesSlide18.xml" Id="R0029f8ed872847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f2610e8df498b" /><Relationship Type="http://schemas.openxmlformats.org/officeDocument/2006/relationships/image" Target="/ppt/media/image31.png" Id="Rc322783ef3a74648" /><Relationship Type="http://schemas.openxmlformats.org/officeDocument/2006/relationships/image" Target="/ppt/media/image32.png" Id="R64c8cff42c194446" /><Relationship Type="http://schemas.openxmlformats.org/officeDocument/2006/relationships/notesSlide" Target="/ppt/notesSlides/notesSlide19.xml" Id="R83af1090fffd4c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9e154049e470e" /><Relationship Type="http://schemas.openxmlformats.org/officeDocument/2006/relationships/image" Target="/ppt/media/image33.png" Id="R43d16fe18f514dc8" /><Relationship Type="http://schemas.openxmlformats.org/officeDocument/2006/relationships/image" Target="/ppt/media/image34.png" Id="R65849d3aa52140f3" /><Relationship Type="http://schemas.openxmlformats.org/officeDocument/2006/relationships/notesSlide" Target="/ppt/notesSlides/notesSlide20.xml" Id="Rca33ea62b35d41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f7894708f4e86" /><Relationship Type="http://schemas.openxmlformats.org/officeDocument/2006/relationships/image" Target="/ppt/media/image35.png" Id="R1ce5d1af215f4865" /><Relationship Type="http://schemas.openxmlformats.org/officeDocument/2006/relationships/image" Target="/ppt/media/image36.png" Id="R85a24e789bbf40e7" /><Relationship Type="http://schemas.openxmlformats.org/officeDocument/2006/relationships/image" Target="/ppt/media/image37.png" Id="R3ed94b3db4fd4be3" /><Relationship Type="http://schemas.openxmlformats.org/officeDocument/2006/relationships/image" Target="/ppt/media/image38.png" Id="R3e8c93d5704e4c0f" /><Relationship Type="http://schemas.openxmlformats.org/officeDocument/2006/relationships/notesSlide" Target="/ppt/notesSlides/notesSlide21.xml" Id="R71cf626ad6aa49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707835e6545ec" /><Relationship Type="http://schemas.openxmlformats.org/officeDocument/2006/relationships/image" Target="/ppt/media/image39.png" Id="R90f566bcaa9040c1" /><Relationship Type="http://schemas.openxmlformats.org/officeDocument/2006/relationships/image" Target="/ppt/media/image40.png" Id="R0280fbc36a8b450b" /><Relationship Type="http://schemas.openxmlformats.org/officeDocument/2006/relationships/notesSlide" Target="/ppt/notesSlides/notesSlide22.xml" Id="R3bafd892fcfa4ee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b0cee75eb42f5" /><Relationship Type="http://schemas.openxmlformats.org/officeDocument/2006/relationships/image" Target="/ppt/media/image41.png" Id="R89904699da8a4ae4" /><Relationship Type="http://schemas.openxmlformats.org/officeDocument/2006/relationships/image" Target="/ppt/media/image42.png" Id="R9b8a67ff117d4ea7" /><Relationship Type="http://schemas.openxmlformats.org/officeDocument/2006/relationships/notesSlide" Target="/ppt/notesSlides/notesSlide23.xml" Id="R643163375db940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19040df924238" /><Relationship Type="http://schemas.openxmlformats.org/officeDocument/2006/relationships/image" Target="/ppt/media/image43.png" Id="Rd05e6387129344e1" /><Relationship Type="http://schemas.openxmlformats.org/officeDocument/2006/relationships/image" Target="/ppt/media/image44.png" Id="R37567b7780dd4f4e" /><Relationship Type="http://schemas.openxmlformats.org/officeDocument/2006/relationships/notesSlide" Target="/ppt/notesSlides/notesSlide24.xml" Id="R90d5e7f1feae43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21a9d0d624075" /><Relationship Type="http://schemas.openxmlformats.org/officeDocument/2006/relationships/image" Target="/ppt/media/image45.png" Id="R10952c991efd4f6f" /><Relationship Type="http://schemas.openxmlformats.org/officeDocument/2006/relationships/image" Target="/ppt/media/image46.png" Id="R0d51618d423b45fe" /><Relationship Type="http://schemas.openxmlformats.org/officeDocument/2006/relationships/notesSlide" Target="/ppt/notesSlides/notesSlide25.xml" Id="R283fcb10c4a346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8163eaf6a4d41" /><Relationship Type="http://schemas.openxmlformats.org/officeDocument/2006/relationships/image" Target="/ppt/media/image47.png" Id="Rc66b9ca9d98e42fa" /><Relationship Type="http://schemas.openxmlformats.org/officeDocument/2006/relationships/image" Target="/ppt/media/image48.png" Id="R80bbfb4ace5c4ec6" /><Relationship Type="http://schemas.openxmlformats.org/officeDocument/2006/relationships/notesSlide" Target="/ppt/notesSlides/notesSlide26.xml" Id="R80b79549b98d41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768d041f24e5a" /><Relationship Type="http://schemas.openxmlformats.org/officeDocument/2006/relationships/image" Target="/ppt/media/image49.png" Id="R54c5617320424acf" /><Relationship Type="http://schemas.openxmlformats.org/officeDocument/2006/relationships/image" Target="/ppt/media/image50.png" Id="R701b6849ab6e4b77" /><Relationship Type="http://schemas.openxmlformats.org/officeDocument/2006/relationships/image" Target="/ppt/media/image51.png" Id="R13d0320d42c74c5d" /><Relationship Type="http://schemas.openxmlformats.org/officeDocument/2006/relationships/notesSlide" Target="/ppt/notesSlides/notesSlide27.xml" Id="R64b3efc503024d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d4fe8d2814c84" /><Relationship Type="http://schemas.openxmlformats.org/officeDocument/2006/relationships/image" Target="/ppt/media/image52.png" Id="Rf73e659a07c74ff3" /><Relationship Type="http://schemas.openxmlformats.org/officeDocument/2006/relationships/image" Target="/ppt/media/image53.png" Id="R7405cb6fa9b94e03" /><Relationship Type="http://schemas.openxmlformats.org/officeDocument/2006/relationships/notesSlide" Target="/ppt/notesSlides/notesSlide28.xml" Id="Rb2a0eba180c845c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7dac76e764e89" /><Relationship Type="http://schemas.openxmlformats.org/officeDocument/2006/relationships/image" Target="/ppt/media/image54.png" Id="Re0c1d24fd50044a8" /><Relationship Type="http://schemas.openxmlformats.org/officeDocument/2006/relationships/image" Target="/ppt/media/image55.png" Id="Rabc39cdf587546bb" /><Relationship Type="http://schemas.openxmlformats.org/officeDocument/2006/relationships/image" Target="/ppt/media/image56.png" Id="Rd52d428f1eef4416" /><Relationship Type="http://schemas.openxmlformats.org/officeDocument/2006/relationships/notesSlide" Target="/ppt/notesSlides/notesSlide29.xml" Id="Rf55c0c99d6b14d7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eaecef9b34adc" /><Relationship Type="http://schemas.openxmlformats.org/officeDocument/2006/relationships/image" Target="/ppt/media/image57.png" Id="R2976accc68d14796" /><Relationship Type="http://schemas.openxmlformats.org/officeDocument/2006/relationships/image" Target="/ppt/media/image58.png" Id="R1c301bd8d26941ac" /><Relationship Type="http://schemas.openxmlformats.org/officeDocument/2006/relationships/notesSlide" Target="/ppt/notesSlides/notesSlide30.xml" Id="R66d4f8e29e4344c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e8df0547e4c87" /><Relationship Type="http://schemas.openxmlformats.org/officeDocument/2006/relationships/image" Target="/ppt/media/image59.png" Id="R2df6f360f4b64824" /><Relationship Type="http://schemas.openxmlformats.org/officeDocument/2006/relationships/image" Target="/ppt/media/image60.png" Id="Re9f77fbb38954dd8" /><Relationship Type="http://schemas.openxmlformats.org/officeDocument/2006/relationships/notesSlide" Target="/ppt/notesSlides/notesSlide31.xml" Id="Rc5d7a9a74722477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8df5fbe5b4f87" /><Relationship Type="http://schemas.openxmlformats.org/officeDocument/2006/relationships/notesSlide" Target="/ppt/notesSlides/notesSlide32.xml" Id="Rdcfe865dcafb44c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ca2ff13da4b68" /><Relationship Type="http://schemas.openxmlformats.org/officeDocument/2006/relationships/notesSlide" Target="/ppt/notesSlides/notesSlide33.xml" Id="Rf86675fef7f74b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C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8C9B9-EA0C-4CC3-8407-6AA8FDB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6A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FDF4C-239E-44E8-BD07-4FCC681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AgentGate UI 改进对比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14A97-2DDE-42FA-A937-FC9A450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CDE0D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CDE0D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DE0DC"/>
                </a:solidFill>
                <a:latin typeface="Arial Unicode MS"/>
                <a:ea typeface="Arial Unicode MS"/>
                <a:cs typeface="Arial Unicode MS"/>
              </a:rPr>
              <a:t>915-NH-WEB 与当前工程 · 功能点统计与页面证据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DDA3E-8754-4F66-B59D-CEDB1C0E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952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0" b="1">
                <a:solidFill>
                  <a:srgbClr val="59D2B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4250" b="1">
                <a:solidFill>
                  <a:srgbClr val="59D2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0" b="1">
                <a:solidFill>
                  <a:srgbClr val="59D2BA"/>
                </a:solidFill>
                <a:latin typeface="Arial Unicode MS"/>
                <a:ea typeface="Arial Unicode MS"/>
                <a:cs typeface="Arial Unicode MS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648F2-452C-4944-8702-65E8F26D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531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项可识别改进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5CF83-7DE1-4079-81A3-9222BFE9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43325"/>
            <a:ext cx="19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36B9E-EFDD-44B8-9219-8DB98704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804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17 项新增   18 项增强   16 项体验调整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18A45-5D78-4A2B-83EC-04F077A1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7953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CEE1D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CEE1D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CEE1DC"/>
                </a:solidFill>
                <a:latin typeface="Arial Unicode MS"/>
                <a:ea typeface="Arial Unicode MS"/>
                <a:cs typeface="Arial Unicode MS"/>
              </a:rPr>
              <a:t>覆盖 7 个模块，逐页呈现真实对照截图。</a:t>
            </a:r>
          </a:p>
          <a:p xmlns:a="http://schemas.openxmlformats.org/drawingml/2006/main">
            <a:pPr>
              <a:defRPr sz="2550" b="0">
                <a:solidFill>
                  <a:srgbClr val="CEE1D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CEE1DC"/>
                </a:solidFill>
                <a:latin typeface="Arial Unicode MS"/>
                <a:ea typeface="Arial Unicode MS"/>
                <a:cs typeface="Arial Unicode MS"/>
              </a:rPr>
              <a:t>同时说明已有能力、适用边界和待改进问题。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BF146-7426-4AB4-94F8-945584FA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0"/>
            <a:ext cx="1362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ACCCC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CCC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CCCC3"/>
                </a:solidFill>
                <a:latin typeface="Arial Unicode MS"/>
                <a:ea typeface="Arial Unicode MS"/>
                <a:cs typeface="Arial Unicode MS"/>
              </a:rPr>
              <a:t>比较基准：915-NH-WEB / 当前 AgentGate 本地 UI 快照</a:t>
            </a:r>
          </a:p>
          <a:p xmlns:a="http://schemas.openxmlformats.org/drawingml/2006/main">
            <a:pPr>
              <a:defRPr sz="1800" b="0">
                <a:solidFill>
                  <a:srgbClr val="ACCCC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CCCC3"/>
                </a:solidFill>
                <a:latin typeface="Arial Unicode MS"/>
                <a:ea typeface="Arial Unicode MS"/>
                <a:cs typeface="Arial Unicode MS"/>
              </a:rPr>
              <a:t>统计日期：2026-10-09</a:t>
            </a:r>
          </a:p>
        </p:txBody>
      </p:sp>
    </p:spTree>
    <p:extLst>
      <p:ext uri="{BB962C8B-B14F-4D97-AF65-F5344CB8AC3E}">
        <p14:creationId xmlns:p14="http://schemas.microsoft.com/office/powerpoint/2010/main" val="1275692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43E1D-9128-406C-8919-5F490218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A2407-A5C7-4AA5-BE0C-D6C36301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51 项改进，主要集中在标注、任务与样本配置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759C-1D27-4F88-8736-BE7894D1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7 个功能模块；新增 17 项、能力增强 18 项、体验调整 16 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973BA-47B2-4AD1-BE23-733D4AF5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847B9-BE31-4CD4-913C-88FFC93607FE}"/>
              </a:ext>
            </a:extLst>
          </p:cNvPr>
          <p:cNvGraphicFramePr/>
          <p:nvPr/>
        </p:nvGraphicFramePr>
        <p:xfrm>
          <a:off xmlns:a="http://schemas.openxmlformats.org/drawingml/2006/main" x="666750" y="1962150"/>
          <a:ext xmlns:a="http://schemas.openxmlformats.org/drawingml/2006/main" cx="13906500" cy="5686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57250"/>
                <a:gridCol w="857250"/>
                <a:gridCol w="857250"/>
                <a:gridCol w="857250"/>
                <a:gridCol w="78105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功能模块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合计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增强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体验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改进概要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全局入口与公共体验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双模式登录、会话状态、统一术语与按钮、版面收敛</a:t>
                      </a:r>
                    </a:p>
                  </a:txBody>
                  <a:tcPr marL="133350" marR="133350" marT="114300" marB="9525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测评总览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时间项靠近标题、移除空指标、最近任务紧凑展示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测评任务与A/B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任务命名、目录选择、目标校验、列表与版本比较</a:t>
                      </a:r>
                    </a:p>
                  </a:txBody>
                  <a:tcPr marL="133350" marR="133350" marT="114300" marB="9525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测评集与样本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创建减负、基本/高级分区、直接配规则、路径导入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人工标注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V2 对象配置、会话筛选、证据审阅、测评集反馈</a:t>
                      </a:r>
                    </a:p>
                  </a:txBody>
                  <a:tcPr marL="133350" marR="133350" marT="114300" marB="9525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评估器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后端草稿、发布启用、固定版本与运行配置追溯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结果、Trace与分析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实际分数、轮次导航、Trace 联动、图谱与分析依据</a:t>
                      </a:r>
                    </a:p>
                  </a:txBody>
                  <a:tcPr marL="133350" marR="133350" marT="114300" marB="9525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C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合计</a:t>
                      </a:r>
                    </a:p>
                  </a:txBody>
                  <a:tcPr marL="133350" marR="133350" marT="114300" marB="95250">
                    <a:solidFill>
                      <a:srgbClr val="E2F2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C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51</a:t>
                      </a:r>
                    </a:p>
                  </a:txBody>
                  <a:tcPr marL="133350" marR="133350" marT="114300" marB="95250">
                    <a:solidFill>
                      <a:srgbClr val="E2F2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C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17</a:t>
                      </a:r>
                    </a:p>
                  </a:txBody>
                  <a:tcPr marL="133350" marR="133350" marT="114300" marB="95250">
                    <a:solidFill>
                      <a:srgbClr val="E2F2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C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</a:t>
                      </a:r>
                    </a:p>
                  </a:txBody>
                  <a:tcPr marL="133350" marR="133350" marT="114300" marB="95250">
                    <a:solidFill>
                      <a:srgbClr val="E2F2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C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</a:t>
                      </a:r>
                    </a:p>
                  </a:txBody>
                  <a:tcPr marL="133350" marR="133350" marT="114300" marB="95250">
                    <a:solidFill>
                      <a:srgbClr val="E2F2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C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同一公共样式/术语只计一次；待设计与纯重构不计</a:t>
                      </a:r>
                    </a:p>
                  </a:txBody>
                  <a:tcPr marL="133350" marR="133350" marT="114300" marB="95250">
                    <a:solidFill>
                      <a:srgbClr val="E2F2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BD471-C796-46DC-9DBD-33B2B9C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数量是基于源码与页面证据的审计口径，不代表效率提升百分比或已完成全流程回归。</a:t>
            </a:r>
          </a:p>
        </p:txBody>
      </p:sp>
    </p:spTree>
    <p:extLst>
      <p:ext uri="{BB962C8B-B14F-4D97-AF65-F5344CB8AC3E}">
        <p14:creationId xmlns:p14="http://schemas.microsoft.com/office/powerpoint/2010/main" val="1232161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8BAAE-E0B3-41B7-8F60-CE02946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1C0BB-F04B-4363-AAA9-1830A71A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比较范围与统计口径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9921C-73A7-416D-A770-661F2AED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冻结本地源码，统一截图视口，按独立用户目的去重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2EB3F-B7F8-4B53-8778-F654495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8E9A5-FFC4-42F0-87D1-EFAF71B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比较范围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3B732-83B5-4F7E-81EE-4485F275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676275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基线：/Users/baibo/915-NH-WEB/frontend</a:t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提交参考：94c79a3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当前：/Users/baibo/915-HN-AgentGate/frontend</a:t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提交参考：c2f2e90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以本轮工作区冻结快照为准，包含快照时</a:t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已有修改；不等同于两个纯 Git 提交的差异。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EF952-1D6E-49FD-BB24-52E104DA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证据与计数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24BE9-1D5C-4FE6-ADCF-89EFD386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64770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1440 × 1000 同视口，保留原始截图。</a:t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演示模板、目录、版本状态均在隔离浏览器中</a:t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呈现；不改业务库，不调用付费模型。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跨页相同术语/公共样式只计一次；</a:t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同一能力的多张截图不重复计数。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原有能力、待设计占位、纯代码重构不计。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8EE54-6904-418F-A081-96D4A1E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14089-CBA6-41F7-80FE-8E598C8D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48525"/>
            <a:ext cx="1390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已保留：独立改进清单、源码位置、源文件哈希、截图操作与样例说明。</a:t>
            </a:r>
          </a:p>
        </p:txBody>
      </p:sp>
    </p:spTree>
    <p:extLst>
      <p:ext uri="{BB962C8B-B14F-4D97-AF65-F5344CB8AC3E}">
        <p14:creationId xmlns:p14="http://schemas.microsoft.com/office/powerpoint/2010/main" val="1401410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03A02-CABF-4CB7-84BD-0CD4DDB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7C8CC-9A1A-476F-AA80-C3C452C3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登录入口：明确区分行内与行外环境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D4FA3-E5AF-4F5E-953A-FEF551F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旧版直接进入工作台；当前通过统一入口确定目录与会话环境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BBA4A-4BFA-4068-89E6-A5FB3C58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SH01 / SH02 · 行内网关未在本轮连通验收；截图未输入真实 token。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B9F0-69DD-49E2-BB98-D041A1C3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2AD4E-6ED5-4779-889B-CFCCF12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A813E-30B4-4889-8600-2E2BB85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BE1E6-E4EA-452F-B834-10401959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66" y="2247900"/>
            <a:ext cx="6055519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80DDE-DD1E-4E15-821B-E3890D2329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294069ee34690"/>
          <a:srcRect xmlns:a="http://schemas.openxmlformats.org/drawingml/2006/main" l="0" t="0" r="45833" b="44000"/>
          <a:stretch xmlns:a="http://schemas.openxmlformats.org/drawingml/2006/main"/>
        </p:blipFill>
        <p:spPr>
          <a:xfrm xmlns:a="http://schemas.openxmlformats.org/drawingml/2006/main">
            <a:off x="1029891" y="2257425"/>
            <a:ext cx="6036469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7EA32-710A-4F71-BD7E-2940467D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112" y="2247900"/>
            <a:ext cx="5165527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3C70B-30BA-4AB6-962F-94ACC9E17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cf5d3b6984197"/>
          <a:srcRect xmlns:a="http://schemas.openxmlformats.org/drawingml/2006/main" l="30208" t="26000" r="30208" b="26000"/>
          <a:stretch xmlns:a="http://schemas.openxmlformats.org/drawingml/2006/main"/>
        </p:blipFill>
        <p:spPr>
          <a:xfrm xmlns:a="http://schemas.openxmlformats.org/drawingml/2006/main">
            <a:off x="8618637" y="2257425"/>
            <a:ext cx="5146477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42C5C-AB18-4F23-AE50-CE95924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直接进入工作台，顶部只有后端连接状态。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B550E-4D55-49C8-BF63-CB823596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行内使用 token 和个人/团队空间；行外进入本地模拟环境，顶部显示当前模式并可登出。</a:t>
            </a:r>
          </a:p>
        </p:txBody>
      </p:sp>
    </p:spTree>
    <p:extLst>
      <p:ext uri="{BB962C8B-B14F-4D97-AF65-F5344CB8AC3E}">
        <p14:creationId xmlns:p14="http://schemas.microsoft.com/office/powerpoint/2010/main" val="351163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CB4DE-AA3B-4A01-962F-48DE05CD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D4ADD-BC03-4877-9E22-8AAE29D2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测评总览：标题、指标与最近任务更紧凑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5BB1A-80DA-4B47-A0A3-801CF88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侧栏从 220px 收至 160px，时间选择靠近标题，移除无数据指标占位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A80BE-B04A-4D30-BA16-E0D6BC80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T01 / T02 / T03 / SH03 / SH05 · 两图使用同一批本地数据，日期在截图上下文中统一平移；任务相关指标限最近最多 200 条运行；测评集样本数独立汇总。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569C9-0B6B-41E8-917E-C095E37A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F928F-64D2-4F99-87B0-ACE0E6E1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99552-5417-4AC6-9A3A-1BBAF34E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BB803-7FFC-468F-A2D0-56B8826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54515"/>
            <a:ext cx="6781800" cy="43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1392D-2334-48F9-BDB4-0C7452778F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0651986284a8c"/>
          <a:srcRect xmlns:a="http://schemas.openxmlformats.org/drawingml/2006/main" l="0" t="0" r="0" b="8000"/>
          <a:stretch xmlns:a="http://schemas.openxmlformats.org/drawingml/2006/main"/>
        </p:blipFill>
        <p:spPr>
          <a:xfrm xmlns:a="http://schemas.openxmlformats.org/drawingml/2006/main">
            <a:off x="666750" y="2264040"/>
            <a:ext cx="6762750" cy="432064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2CF22-3917-41C6-9E2B-1BC83ECF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95405"/>
            <a:ext cx="6781800" cy="4057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2B22F-50D4-4EBA-A781-0DA657F04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1a14bd90b4aed"/>
          <a:srcRect xmlns:a="http://schemas.openxmlformats.org/drawingml/2006/main" l="0" t="0" r="0" b="14000"/>
          <a:stretch xmlns:a="http://schemas.openxmlformats.org/drawingml/2006/main"/>
        </p:blipFill>
        <p:spPr>
          <a:xfrm xmlns:a="http://schemas.openxmlformats.org/drawingml/2006/main">
            <a:off x="7810500" y="2404930"/>
            <a:ext cx="6762750" cy="403886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C1736-B02D-4BB9-997D-44F7207B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时间项独占一行；Token 消耗为“—”；最近任务名称与版本分行。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C3CA0-984E-4A17-A29E-D27280DA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时间项与标题底部对齐；保留四项指标；名称、版本同行；统一“测评 / 测评集”术语。</a:t>
            </a:r>
          </a:p>
        </p:txBody>
      </p:sp>
    </p:spTree>
    <p:extLst>
      <p:ext uri="{BB962C8B-B14F-4D97-AF65-F5344CB8AC3E}">
        <p14:creationId xmlns:p14="http://schemas.microsoft.com/office/powerpoint/2010/main" val="1818285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EA5D9-97B2-4C91-9BC7-B0054BC1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6994A-A170-42A6-9315-1AA3FC0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任务列表：一屏看全主要信息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6E00C-B1A7-4585-9109-ED5E437A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类型页签、快捷时间、紧凑列与删除入口共同改善任务管理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0712F-8507-40C9-979F-55331A27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T08 / T09 / T10 / T11 · 旧状态筛选、任意日期范围和批量导出入口不再显示，作为后续改进项单列。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9297F-7732-4AE7-9FA3-8DDF03DE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A64A0-5878-48EF-BE07-8FE38C57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CFC87-BAA5-409A-B2ED-1AD4B072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306" y="2171700"/>
            <a:ext cx="7386638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B9DD6-E6E7-4860-A846-4FA553ED0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143c8b0464c87"/>
          <a:srcRect xmlns:a="http://schemas.openxmlformats.org/drawingml/2006/main" l="16319" t="8500" r="1042" b="53500"/>
          <a:stretch xmlns:a="http://schemas.openxmlformats.org/drawingml/2006/main"/>
        </p:blipFill>
        <p:spPr>
          <a:xfrm xmlns:a="http://schemas.openxmlformats.org/drawingml/2006/main">
            <a:off x="1697831" y="2181225"/>
            <a:ext cx="7367588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1EAE1-D59C-4365-B6F7-7C37559D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2A99E-9463-44C8-89E6-44999744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03375"/>
            <a:ext cx="9448800" cy="2232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A3C99-4D06-474F-B869-0E46A1600F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f313ebbaf42d6"/>
          <a:srcRect xmlns:a="http://schemas.openxmlformats.org/drawingml/2006/main" l="12292" t="8500" r="1042" b="62200"/>
          <a:stretch xmlns:a="http://schemas.openxmlformats.org/drawingml/2006/main"/>
        </p:blipFill>
        <p:spPr>
          <a:xfrm xmlns:a="http://schemas.openxmlformats.org/drawingml/2006/main">
            <a:off x="666750" y="5212900"/>
            <a:ext cx="9429750" cy="221387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B1557-36A5-4ECE-BD0D-B895B4E2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812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147BE-754F-4E37-A16B-AFFC280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38450"/>
            <a:ext cx="3905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类型直接切换：全部 / 单任务 / A/B试验。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D652C-2C32-48C2-A353-9090CDCA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100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9FD6-47ED-43CA-9208-CA48C98E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67225"/>
            <a:ext cx="3905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默认近 7 天，另有今日和近 30 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BA5BC-19B6-42F0-BD1E-DB999C14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388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5E1F7-A4D7-4C18-95F4-230F7B3D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905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固定列宽、顶端对齐、得分字号一致；增加删除。</a:t>
            </a:r>
          </a:p>
        </p:txBody>
      </p:sp>
    </p:spTree>
    <p:extLst>
      <p:ext uri="{BB962C8B-B14F-4D97-AF65-F5344CB8AC3E}">
        <p14:creationId xmlns:p14="http://schemas.microsoft.com/office/powerpoint/2010/main" val="238039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28D2F-DFA5-4E31-AE25-E9414BE1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C098-6DAF-4C4F-B577-445229C2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新建任务：名称可配置，测评对象来自目录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C3E9D-4C18-4501-BC5A-68C1AD75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任务名称进入创建流程，Agent 选择接入平台目录与本地目录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EE8A0-6026-4422-8D48-E05A6339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T04 / T05 · 目录截图为演示响应/本地模拟；团队在登录时确定，类型由目录识别，不是新增独立类型下拉。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4F740-7811-43CB-9021-BA8373B7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3337D-4474-43E4-955D-5D86384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775D6-234F-4BB0-B51F-BBD91DDB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A61F2-6DD0-4F73-A444-9521B1DB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08407"/>
            <a:ext cx="6781800" cy="4231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5D9B-468A-4B4F-AC8E-85C390E18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776b4dbc741c9"/>
          <a:srcRect xmlns:a="http://schemas.openxmlformats.org/drawingml/2006/main" l="7639" t="6000" r="7639" b="18000"/>
          <a:stretch xmlns:a="http://schemas.openxmlformats.org/drawingml/2006/main"/>
        </p:blipFill>
        <p:spPr>
          <a:xfrm xmlns:a="http://schemas.openxmlformats.org/drawingml/2006/main">
            <a:off x="666750" y="2317932"/>
            <a:ext cx="6762750" cy="421286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8BC6E-7665-4417-BF45-87705E3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247" y="2247900"/>
            <a:ext cx="4801257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75858-5809-4CDE-AE7C-FEA2501EB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e3f49890a4422"/>
          <a:srcRect xmlns:a="http://schemas.openxmlformats.org/drawingml/2006/main" l="22222" t="6000" r="22222" b="21500"/>
          <a:stretch xmlns:a="http://schemas.openxmlformats.org/drawingml/2006/main"/>
        </p:blipFill>
        <p:spPr>
          <a:xfrm xmlns:a="http://schemas.openxmlformats.org/drawingml/2006/main">
            <a:off x="8800772" y="2257425"/>
            <a:ext cx="4782207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D8595-B7C9-4DBA-9534-069F9B0A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任务名由系统拼接，主要选择已登记对象和内置版本。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F57F4-E9E7-44F0-A997-D1EF380B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先填写任务名称；选择 Agent 后按类型加载分支与版本。列表和详情展示配置名，旧任务保留回退名。</a:t>
            </a:r>
          </a:p>
        </p:txBody>
      </p:sp>
    </p:spTree>
    <p:extLst>
      <p:ext uri="{BB962C8B-B14F-4D97-AF65-F5344CB8AC3E}">
        <p14:creationId xmlns:p14="http://schemas.microsoft.com/office/powerpoint/2010/main" val="1665298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5D86B-09FA-4553-BDC0-51FD18B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4E33B-EF16-4DFB-AF4F-36F55E5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A/B 配置：扩展到目录中的同一智能体双版本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27C19-8FA7-47B5-92A2-A0B1217D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已有 A/B 能力保留，新增平台目标的基线与候选选择路径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A1303-7944-44D1-B266-54B27E5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T13 · 本页只核对配置交互与实现，未提交 A/B 运行；独立 A/B 结果页原本已有。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A13E7-027D-4292-99E8-9E5139C1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7EEB4-196C-4C8D-A978-55DCF2F2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93CBA-E168-4430-821A-884880A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1C080-4837-4C21-9D8C-95729709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15417"/>
            <a:ext cx="6781800" cy="2817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66265-9436-473B-B210-CCE9AD1CB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053b1ee814912"/>
          <a:srcRect xmlns:a="http://schemas.openxmlformats.org/drawingml/2006/main" l="14931" t="23200" r="14931" b="35000"/>
          <a:stretch xmlns:a="http://schemas.openxmlformats.org/drawingml/2006/main"/>
        </p:blipFill>
        <p:spPr>
          <a:xfrm xmlns:a="http://schemas.openxmlformats.org/drawingml/2006/main">
            <a:off x="666750" y="3024942"/>
            <a:ext cx="6762750" cy="279884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D5D4E-4E7B-440B-BE27-20C31694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67152"/>
            <a:ext cx="6781800" cy="4114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27497-3B5E-4F46-AD68-9D53D3191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d069409fb4789"/>
          <a:srcRect xmlns:a="http://schemas.openxmlformats.org/drawingml/2006/main" l="23750" t="30900" r="23958" b="23500"/>
          <a:stretch xmlns:a="http://schemas.openxmlformats.org/drawingml/2006/main"/>
        </p:blipFill>
        <p:spPr>
          <a:xfrm xmlns:a="http://schemas.openxmlformats.org/drawingml/2006/main">
            <a:off x="7810500" y="2376677"/>
            <a:ext cx="6762750" cy="409537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1000E-CCD1-4F39-9112-3E889F86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主要用于内置 Demo 双版本；登记的本地对象受限制。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AA39B-807A-492C-ACBF-88E9324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候选版本从同一来源加载；要求与基线不同；避免把不同对象混为版本对比。</a:t>
            </a:r>
          </a:p>
        </p:txBody>
      </p:sp>
    </p:spTree>
    <p:extLst>
      <p:ext uri="{BB962C8B-B14F-4D97-AF65-F5344CB8AC3E}">
        <p14:creationId xmlns:p14="http://schemas.microsoft.com/office/powerpoint/2010/main" val="1499333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0EB04-BBF5-4EFD-AE2F-787C4C15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B5B35-921D-49DD-AD21-ADF98292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执行设置：根据目标能力调整参数与提示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DC84F-B686-47E9-9E40-7DBB964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默认并发改为 1，并增强不兼容测评集和提交失败的处理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82660-A79A-4C85-9D7D-0FB3DD78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T06 / T07 / T12 · 参数界面有截图；校验、权限拒绝及结果不明分支经代码核验，本轮未故意制造业务提交异常。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FD246-254F-407D-B8AC-FBEF2AF5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3B4C4-6516-45A2-A752-5D361FD6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5A995-14CA-44B7-910F-A1EA8866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5A503-E106-4367-B3DD-87A1124B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80691"/>
            <a:ext cx="6781800" cy="4287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50583-804A-461E-9210-321D84E8E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b6f2aa4bc4ab0"/>
          <a:srcRect xmlns:a="http://schemas.openxmlformats.org/drawingml/2006/main" l="7639" t="13000" r="7639" b="10000"/>
          <a:stretch xmlns:a="http://schemas.openxmlformats.org/drawingml/2006/main"/>
        </p:blipFill>
        <p:spPr>
          <a:xfrm xmlns:a="http://schemas.openxmlformats.org/drawingml/2006/main">
            <a:off x="666750" y="2290216"/>
            <a:ext cx="6762750" cy="426829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6A99E-1A23-4DDA-9363-68472F28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91556"/>
            <a:ext cx="6781800" cy="4065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58B8F-882E-4ED8-8426-3C6CD463F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5e9bc2f404de2"/>
          <a:srcRect xmlns:a="http://schemas.openxmlformats.org/drawingml/2006/main" l="7639" t="13000" r="7639" b="14000"/>
          <a:stretch xmlns:a="http://schemas.openxmlformats.org/drawingml/2006/main"/>
        </p:blipFill>
        <p:spPr>
          <a:xfrm xmlns:a="http://schemas.openxmlformats.org/drawingml/2006/main">
            <a:off x="7810500" y="2401081"/>
            <a:ext cx="6762750" cy="404656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1993D-4DC5-4C49-B8C0-EA47A5F6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内置 Demo 默认并发 2；登记的本地对象固定串行且不重试。异常使用通用提示。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21BB9-6413-475C-893A-FBA4DA5F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参数按目标适配；平台样本校验纯文本输入和初始状态。结果不明时提示先查任务，避免重复提交。</a:t>
            </a:r>
          </a:p>
        </p:txBody>
      </p:sp>
    </p:spTree>
    <p:extLst>
      <p:ext uri="{BB962C8B-B14F-4D97-AF65-F5344CB8AC3E}">
        <p14:creationId xmlns:p14="http://schemas.microsoft.com/office/powerpoint/2010/main" val="770170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A8AE4-57A3-4DD0-9114-90AB9F5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45D2D-181A-477A-8D67-B7A0EA2F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结果页：得分对应实际评估器，分析入口更近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B795F-A03C-48C7-AD52-58E52A00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以实际结果展示评估器得分，任务内可直接进入 Skill 静态分析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3E1A2-FA61-4A72-8E37-C5BF149B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T14 / T15 · 两图使用同一演示结果响应（LLM 得分 75），未调用真实 LLM；显示的是评估器总分，不代表新增逐轮评分。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78DB1-20BC-4910-B68C-71FA601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E097B-FC60-4703-98D1-331D9DA4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8FC81-5781-4EFE-842F-95F2841A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01FB1-97DF-4F98-99F6-2A7D465F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26635"/>
            <a:ext cx="6781800" cy="399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45400-269F-4EB7-B33A-6524D0707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f9b8c80de4d17"/>
          <a:srcRect xmlns:a="http://schemas.openxmlformats.org/drawingml/2006/main" l="16528" t="8500" r="1389" b="22000"/>
          <a:stretch xmlns:a="http://schemas.openxmlformats.org/drawingml/2006/main"/>
        </p:blipFill>
        <p:spPr>
          <a:xfrm xmlns:a="http://schemas.openxmlformats.org/drawingml/2006/main">
            <a:off x="666750" y="2436160"/>
            <a:ext cx="6762750" cy="39764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3ACC7-6B67-46A1-BC38-40704148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24205"/>
            <a:ext cx="6781800" cy="3800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6ECF7-5F29-4A61-B0DD-E61DE3571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38ed498a6456e"/>
          <a:srcRect xmlns:a="http://schemas.openxmlformats.org/drawingml/2006/main" l="12292" t="8500" r="1389" b="22000"/>
          <a:stretch xmlns:a="http://schemas.openxmlformats.org/drawingml/2006/main"/>
        </p:blipFill>
        <p:spPr>
          <a:xfrm xmlns:a="http://schemas.openxmlformats.org/drawingml/2006/main">
            <a:off x="7810500" y="2533730"/>
            <a:ext cx="6762750" cy="378126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F31C4-4409-4ED8-914A-34FA014B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旧 LLM 分数按 rubric 拆列，但独立维度常显示占位；结果与配置为主要入口。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6DF3B-DF11-4E1E-B7DA-36965EDF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按评估器显示实际 score；增加本任务的 Skill 静态分析页签，保持目标上下文。</a:t>
            </a:r>
          </a:p>
        </p:txBody>
      </p:sp>
    </p:spTree>
    <p:extLst>
      <p:ext uri="{BB962C8B-B14F-4D97-AF65-F5344CB8AC3E}">
        <p14:creationId xmlns:p14="http://schemas.microsoft.com/office/powerpoint/2010/main" val="661290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B389D-4324-4A4B-B8F9-E541646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A9423-20AC-40BC-AB2E-1A201B6A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样本详情：单轮也可沿统一目录查看证据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370CD-03AE-413B-9974-90ACFDCB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“第 1 轮”与轮次导航保持一致，补充完整 Trace 查看区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45A6-D118-4844-AA46-A8DD7175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T17 · 两图为同一个已完成的本地模拟样本。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FEA33-EBBB-4DFA-9AF2-445474AC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25AD6-2E3B-4ADA-BA45-C12069A3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94324-4804-43CA-BA68-CA3FFDFC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AA500-D9F7-45E6-B08D-862C7ECE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23" y="2247900"/>
            <a:ext cx="6503405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5DE1F-46DC-45DA-8BBF-4C506AEA39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f2c47d6014ea1"/>
          <a:srcRect xmlns:a="http://schemas.openxmlformats.org/drawingml/2006/main" l="16528" t="11000" r="1389" b="10000"/>
          <a:stretch xmlns:a="http://schemas.openxmlformats.org/drawingml/2006/main"/>
        </p:blipFill>
        <p:spPr>
          <a:xfrm xmlns:a="http://schemas.openxmlformats.org/drawingml/2006/main">
            <a:off x="805948" y="2257425"/>
            <a:ext cx="6484355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76512-3C23-4D80-970E-ACAFEF6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65774"/>
            <a:ext cx="6781800" cy="431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042BA-51E8-41EB-B7C8-E4212532D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17adfbeba4bc7"/>
          <a:srcRect xmlns:a="http://schemas.openxmlformats.org/drawingml/2006/main" l="12292" t="11000" r="1389" b="10000"/>
          <a:stretch xmlns:a="http://schemas.openxmlformats.org/drawingml/2006/main"/>
        </p:blipFill>
        <p:spPr>
          <a:xfrm xmlns:a="http://schemas.openxmlformats.org/drawingml/2006/main">
            <a:off x="7810500" y="2275299"/>
            <a:ext cx="6762750" cy="429812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74C1D-1766-4BA0-B249-C0C8EB7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单轮不显示轮次目录，与多轮界面的结构不同。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342F6-2476-478A-ACD6-E52F7C3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单轮、多轮统一目录和标题，查看会话、评估结果与 Trace 时保持同一布局。</a:t>
            </a:r>
          </a:p>
        </p:txBody>
      </p:sp>
    </p:spTree>
    <p:extLst>
      <p:ext uri="{BB962C8B-B14F-4D97-AF65-F5344CB8AC3E}">
        <p14:creationId xmlns:p14="http://schemas.microsoft.com/office/powerpoint/2010/main" val="7609009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9A5EE-76DA-43B7-8F8A-BC5DDF19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44859-4168-4AE0-9639-7AEDEAD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Trace：执行关系和原始 JSON 可以联动查看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56C92-84A9-4ED4-B35F-483B6F7F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新增排障工作区，支持按环节定位、搜索和折叠原始数据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9BCC2-29AE-431B-BE89-F9202E09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T18 · 截图为本地模拟轨迹，不代表线上全链路采集完整性。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71F45-E472-4F28-8019-BFC71FC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0FEF2-513F-4E27-AC0C-186F747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7CAE-4E08-403C-9620-9F54C8C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6A805-5274-47A7-9A5F-5DA570C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40813"/>
            <a:ext cx="6781800" cy="416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804E8-1FC2-4F76-9F6C-27CA3BEFB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1d9d680a14d04"/>
          <a:srcRect xmlns:a="http://schemas.openxmlformats.org/drawingml/2006/main" l="16528" t="14000" r="1389" b="13500"/>
          <a:stretch xmlns:a="http://schemas.openxmlformats.org/drawingml/2006/main"/>
        </p:blipFill>
        <p:spPr>
          <a:xfrm xmlns:a="http://schemas.openxmlformats.org/drawingml/2006/main">
            <a:off x="666750" y="2350338"/>
            <a:ext cx="6762750" cy="414804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C68E9-426A-412E-96F3-DA464E67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98734"/>
            <a:ext cx="6781800" cy="425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E0C69-623B-4268-9E2C-E646C866B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752b22fed49a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10500" y="2308259"/>
            <a:ext cx="6762750" cy="423220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55E9B-BEB8-48AB-B9CB-953B7B06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主要展示会话、结果和 Trace ID，缺少完整执行图与 JSON 工作区。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07E92-BF40-4032-A838-606C89ED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执行图展示层级、类型、状态和耗时；选择环节可定位对应 JSON。</a:t>
            </a:r>
          </a:p>
        </p:txBody>
      </p:sp>
    </p:spTree>
    <p:extLst>
      <p:ext uri="{BB962C8B-B14F-4D97-AF65-F5344CB8AC3E}">
        <p14:creationId xmlns:p14="http://schemas.microsoft.com/office/powerpoint/2010/main" val="14471966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E3F55-FF87-4D81-A3FB-1B5B64A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89775-FE0F-4BF2-AB58-6DC44CDF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智能体图谱：更清楚地表达工作流执行关系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28B0F-B606-4D6C-AF2A-6B83A3DB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按 DAG 分层，显示方向和条件；在测评集关联定义中也可查看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9852D-67B0-4E6B-9D76-782BBB79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T19 / DS04 · 同一工作流定义样例通过只读 API 响应提供；图谱完整性依赖目录返回的描述符。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5572F-61B5-47EA-9E25-80A1AA17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F1152-A2C5-424D-8870-2117B9E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8822A-60E9-4C77-B7D1-0409EF48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D8379-D43B-4730-A1A9-661C2AF3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168" y="2247900"/>
            <a:ext cx="4343915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3925F-2F47-479C-A99B-1162CBA53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ebf6bad444d6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85693" y="2257425"/>
            <a:ext cx="4324865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078B8-9156-44A5-8E20-2DB4F60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020" y="2247900"/>
            <a:ext cx="5317710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DE7E9-7CEF-4337-9BE9-DBFA9312D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4a324dfa349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42545" y="2257425"/>
            <a:ext cx="5298660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BB1C8-E3EC-424C-9555-E37363E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按节点类型分列，流程先后和分支关系不够直观。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C9B8D-2F1E-41A9-9EBD-D438BC1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按执行关系分层；区分模型、规则、工具与起止节点，显示分支条件。测评集关联定义复用图谱入口。</a:t>
            </a:r>
          </a:p>
        </p:txBody>
      </p:sp>
    </p:spTree>
    <p:extLst>
      <p:ext uri="{BB962C8B-B14F-4D97-AF65-F5344CB8AC3E}">
        <p14:creationId xmlns:p14="http://schemas.microsoft.com/office/powerpoint/2010/main" val="1907414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8E26F-E901-4D98-9F6C-E6C09491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BEB5C-4C29-428E-A1E9-D66E3DCB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Skill 分析：说明依据、覆盖范围和适用边界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E5B8D-8B24-4127-A10C-41A2F5E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分析条件更明确，结果页补充模型、比较组数和关系证据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C63FB-4F5A-4383-818F-242F9A5A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T20 / T21 · 报告状态由明确的 API 样例展示，本轮未调用付费模型；原有静态分析能力不重复计为新增。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2E4DD-0736-45ED-83BA-E330DB6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B462C-2CF9-4148-BAAC-25E84386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65A56-FC49-4EF0-A7BC-EA97376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4BAB6-DFFB-46D6-A3A6-E98014A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97576"/>
            <a:ext cx="6781800" cy="145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B6C06-DF8C-421A-89E2-D47DA449AB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4473153e1447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3707101"/>
            <a:ext cx="6762750" cy="143452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98E65-CF30-446C-B492-A6D126E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16194"/>
            <a:ext cx="6781800" cy="2416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527C2-A509-431C-89A5-34E985475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010281d2346d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10500" y="3225719"/>
            <a:ext cx="6762750" cy="239728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5873E-CE4F-4986-91A3-00BC3F0E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以发现项和复核输入为主，比较范围和模型依据不够集中。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714DA-A0B4-4658-AB01-F4469A51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至少两个 Skill 才运行职责比较；展示模型、完成比较组数、关系和置信度，并解释分析边界。</a:t>
            </a:r>
          </a:p>
        </p:txBody>
      </p:sp>
    </p:spTree>
    <p:extLst>
      <p:ext uri="{BB962C8B-B14F-4D97-AF65-F5344CB8AC3E}">
        <p14:creationId xmlns:p14="http://schemas.microsoft.com/office/powerpoint/2010/main" val="20536950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D742C-4706-4DB6-ABEA-EE4D4D41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E5FFC-3676-4F9A-8A2A-0F1637C5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创建测评集：先命名，再决定是否关联对象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44631-4337-4D2E-A511-C5C5D74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名称前置，描述与场景标签选填，关联目录与登录环境一致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06A2C-4CCE-4DC0-8A58-D3B3DA0F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DS01 / DS02 / DS03 / SH06 · 名称及卡片名称旧版已有；当前关联控件可操作。关联信息、图标与标签仍不随测评集保存。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2BEA6-03E9-4D94-B6E9-54538207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166EA-5931-4071-9AD2-81C290A7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8B0EC-7A72-496B-8847-5E075C1F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09AB4-8B33-4750-B3AD-F9ABA67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77" y="2247900"/>
            <a:ext cx="6103696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B9E2D-C879-4070-9693-CA953CAC5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2a34215784091"/>
          <a:srcRect xmlns:a="http://schemas.openxmlformats.org/drawingml/2006/main" l="13194" t="11500" r="13194" b="13000"/>
          <a:stretch xmlns:a="http://schemas.openxmlformats.org/drawingml/2006/main"/>
        </p:blipFill>
        <p:spPr>
          <a:xfrm xmlns:a="http://schemas.openxmlformats.org/drawingml/2006/main">
            <a:off x="1005802" y="2257425"/>
            <a:ext cx="6084646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2184C-4098-4B07-B369-BC398BD7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759" y="2247900"/>
            <a:ext cx="5272232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14DAE-F0E9-4A6C-8C69-1DFEEEE0C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2c4e6fffc4e79"/>
          <a:srcRect xmlns:a="http://schemas.openxmlformats.org/drawingml/2006/main" l="22222" t="12000" r="22222" b="22000"/>
          <a:stretch xmlns:a="http://schemas.openxmlformats.org/drawingml/2006/main"/>
        </p:blipFill>
        <p:spPr>
          <a:xfrm xmlns:a="http://schemas.openxmlformats.org/drawingml/2006/main">
            <a:off x="8565284" y="2257425"/>
            <a:ext cx="5253182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77C59-F16D-4C55-A9CD-00FA57CF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关联智能体位于首步。</a:t>
            </a:r>
          </a:p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名称、描述和场景标签均为前置条件。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CBC08-A1E9-445C-954E-346DA34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名称前置，描述和场景标签选填。</a:t>
            </a:r>
          </a:p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只填名称即可创建空测评集，</a:t>
            </a:r>
          </a:p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弹窗尺寸和滚动方式统一。</a:t>
            </a:r>
          </a:p>
        </p:txBody>
      </p:sp>
    </p:spTree>
    <p:extLst>
      <p:ext uri="{BB962C8B-B14F-4D97-AF65-F5344CB8AC3E}">
        <p14:creationId xmlns:p14="http://schemas.microsoft.com/office/powerpoint/2010/main" val="2143062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9E5F2-8152-4092-9A7E-9909862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B93D1-C77F-4D83-A690-C1946553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新增样本：围绕输入与期望组织基本测评项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26F3B-839F-44FE-BC71-6B309424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移除常用流程中的冗余字段，输入与期望左右并排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AE023-4661-464A-8219-1CDC466B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DS05 / DS06 / DS07 · 删除的是录入控件；既有样本的原值保留。默认字段简化也减少了专业用户可直接调整的入口。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EA43A-6843-46F2-B8B4-0EE9899A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8B0C9-6DED-410A-94E8-8CC5BEB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AAB7E-FE24-4261-B088-F4F326A2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E31E8-65D2-49EE-8C61-027DFE3F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92" y="2247900"/>
            <a:ext cx="6150465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2B93B-0AE1-43F7-9F10-FF3398E13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44591b64741ca"/>
          <a:srcRect xmlns:a="http://schemas.openxmlformats.org/drawingml/2006/main" l="13403" t="11000" r="13403" b="14500"/>
          <a:stretch xmlns:a="http://schemas.openxmlformats.org/drawingml/2006/main"/>
        </p:blipFill>
        <p:spPr>
          <a:xfrm xmlns:a="http://schemas.openxmlformats.org/drawingml/2006/main">
            <a:off x="982417" y="2257425"/>
            <a:ext cx="6131415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BB8EC-9556-42AD-8CAF-9D99D240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836" y="2247900"/>
            <a:ext cx="6266077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171C-6448-4BD4-8ACE-714E700D4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f2a30d2c74fd1"/>
          <a:srcRect xmlns:a="http://schemas.openxmlformats.org/drawingml/2006/main" l="22222" t="12000" r="22222" b="32500"/>
          <a:stretch xmlns:a="http://schemas.openxmlformats.org/drawingml/2006/main"/>
        </p:blipFill>
        <p:spPr>
          <a:xfrm xmlns:a="http://schemas.openxmlformats.org/drawingml/2006/main">
            <a:off x="8068361" y="2257425"/>
            <a:ext cx="6247027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EEFC5-41B8-4606-AFFC-00C80A3D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输入字段、分类、场景标签集中在顶部，</a:t>
            </a:r>
          </a:p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输入和期望上下排列。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48FC7-1702-4518-A2DE-3C4FF12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基本区突出样本名称、用户输入和 System·期望输出；新样本默认 txt / 正例，保留 JSON 模式。</a:t>
            </a:r>
          </a:p>
        </p:txBody>
      </p:sp>
    </p:spTree>
    <p:extLst>
      <p:ext uri="{BB962C8B-B14F-4D97-AF65-F5344CB8AC3E}">
        <p14:creationId xmlns:p14="http://schemas.microsoft.com/office/powerpoint/2010/main" val="18129687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03ECB-6641-43AB-A526-3B3E5CA1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097DE-5531-4186-A7C4-596B142F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期望评估方式：直接配置路径与多条规则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06821-4697-465C-BD02-3D88321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把常用规则从高级编辑中移到基本区，并保证至少保留一条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50991-39D0-44A9-BC3F-DB3D6DB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DS08 · 多条期望与条件枚举旧版已有；当前新建多行共享顶部期望输出，不应理解为各行独立期望文本。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B9432-6E82-42E6-B6C0-592BAF6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548CC-536D-4E7F-B8ED-8314FDB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4BE1E-3C1B-4B33-8CA7-DCC7F005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07F52-1C51-420B-944A-5C98C782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12" y="2247900"/>
            <a:ext cx="6584227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37E8-A41F-4699-BF91-B43A75D64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2ea8037d34339"/>
          <a:srcRect xmlns:a="http://schemas.openxmlformats.org/drawingml/2006/main" l="30903" t="24500" r="15972" b="25000"/>
          <a:stretch xmlns:a="http://schemas.openxmlformats.org/drawingml/2006/main"/>
        </p:blipFill>
        <p:spPr>
          <a:xfrm xmlns:a="http://schemas.openxmlformats.org/drawingml/2006/main">
            <a:off x="765537" y="2257425"/>
            <a:ext cx="6565177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220E7-EDAE-497D-94F2-E07F1FA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588" y="2247900"/>
            <a:ext cx="4040574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D37D4-0751-4AEC-8CC9-7CC8968B2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10b3c2a39497e"/>
          <a:srcRect xmlns:a="http://schemas.openxmlformats.org/drawingml/2006/main" l="39931" t="12000" r="24306" b="32500"/>
          <a:stretch xmlns:a="http://schemas.openxmlformats.org/drawingml/2006/main"/>
        </p:blipFill>
        <p:spPr>
          <a:xfrm xmlns:a="http://schemas.openxmlformats.org/drawingml/2006/main">
            <a:off x="9181113" y="2257425"/>
            <a:ext cx="4021524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3DF7E-2B8D-4F9A-871A-4401A36A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多条输出期望经过高级检查进入，混有名称、类型等完整配置字段。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C6F88-60E7-4C64-A8BC-C419B0B1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直接显示输出路径与评估方式；可增加、删除规则行，控件高度一致。</a:t>
            </a:r>
          </a:p>
        </p:txBody>
      </p:sp>
    </p:spTree>
    <p:extLst>
      <p:ext uri="{BB962C8B-B14F-4D97-AF65-F5344CB8AC3E}">
        <p14:creationId xmlns:p14="http://schemas.microsoft.com/office/powerpoint/2010/main" val="18390209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EB168-C524-4895-AC1E-B88B3ADB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ED65-FCE4-442D-8275-7817859F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高级测评项：工具与 Skill 的入口更集中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CDD20-9E5F-4B06-85E5-0BE3418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保留原有检查能力，按基础与高级使用场景重排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860A3-4BD6-464D-916C-D27D7142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DS06 · 本页是 DS06 的补充证据，不重复计数；工具和 Skill 检查本身不是本次新建能力。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96603-3C89-41C8-83BB-A6F7BDD8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526C0-300E-416C-B21C-10088B49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B50C-B23A-42D7-9EE7-102CBE2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BD3FF-8471-4CCB-A77D-53F6F148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12" y="2247900"/>
            <a:ext cx="6584227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359CD-2B75-4722-9D95-A2883A7AF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668eb4d334699"/>
          <a:srcRect xmlns:a="http://schemas.openxmlformats.org/drawingml/2006/main" l="30903" t="24500" r="15972" b="25000"/>
          <a:stretch xmlns:a="http://schemas.openxmlformats.org/drawingml/2006/main"/>
        </p:blipFill>
        <p:spPr>
          <a:xfrm xmlns:a="http://schemas.openxmlformats.org/drawingml/2006/main">
            <a:off x="765537" y="2257425"/>
            <a:ext cx="6565177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4A89F-A8B3-474F-A778-A115F694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623" y="2247900"/>
            <a:ext cx="5262504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1B442-0DDE-4BC4-B663-2B110EC03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54184b16749ff"/>
          <a:srcRect xmlns:a="http://schemas.openxmlformats.org/drawingml/2006/main" l="40278" t="14500" r="25694" b="45000"/>
          <a:stretch xmlns:a="http://schemas.openxmlformats.org/drawingml/2006/main"/>
        </p:blipFill>
        <p:spPr>
          <a:xfrm xmlns:a="http://schemas.openxmlformats.org/drawingml/2006/main">
            <a:off x="8570148" y="2257425"/>
            <a:ext cx="5243454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0B96E-117B-44B8-B885-1B3F59C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工具检查位于主流程，Skill 等检查在更深的高级区域。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F28BB-CF3A-40AD-9031-C12023B6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高级测评项集中展示期望工具调用和期望 Skill 调用，其他条件与备注折叠。</a:t>
            </a:r>
          </a:p>
        </p:txBody>
      </p:sp>
    </p:spTree>
    <p:extLst>
      <p:ext uri="{BB962C8B-B14F-4D97-AF65-F5344CB8AC3E}">
        <p14:creationId xmlns:p14="http://schemas.microsoft.com/office/powerpoint/2010/main" val="10720615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1469F-7145-4B48-96E4-96959BCC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7ADC8-15B5-4122-95B0-94AB5CF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导入样本：接纳执行路径检查并保留原始定义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AC141-6BD9-4FCE-BD53-D86E161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同一份 execution_path 样例，旧版拒绝，新版可以解析预览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48F09-F23C-4099-A1F1-C40AB1B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DS09 · 只解析预览，未确认导入。当前预览“期望检查”未计入路径检查，仍显示 0，属于待修复展示遗漏。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236DB-79D9-407D-AB20-B659784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641E6-EE25-4B41-A987-C751480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14A28-DD4C-403D-B625-E00D9CF5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47D28-0480-4F72-9475-CCF2B49D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97880"/>
            <a:ext cx="6781800" cy="285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23D30-69E3-4347-8C22-5644988B4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2783ef3a74648"/>
          <a:srcRect xmlns:a="http://schemas.openxmlformats.org/drawingml/2006/main" l="13542" t="6000" r="13542" b="50000"/>
          <a:stretch xmlns:a="http://schemas.openxmlformats.org/drawingml/2006/main"/>
        </p:blipFill>
        <p:spPr>
          <a:xfrm xmlns:a="http://schemas.openxmlformats.org/drawingml/2006/main">
            <a:off x="666750" y="3007405"/>
            <a:ext cx="6762750" cy="283391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24881-0381-4E16-859F-7671293C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220" y="2247900"/>
            <a:ext cx="6177309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6A4A2-1B0F-47A9-AAC9-6CC03D8C53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8cff42c194446"/>
          <a:srcRect xmlns:a="http://schemas.openxmlformats.org/drawingml/2006/main" l="22222" t="6000" r="22222" b="37700"/>
          <a:stretch xmlns:a="http://schemas.openxmlformats.org/drawingml/2006/main"/>
        </p:blipFill>
        <p:spPr>
          <a:xfrm xmlns:a="http://schemas.openxmlformats.org/drawingml/2006/main">
            <a:off x="8112745" y="2257425"/>
            <a:ext cx="6158259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D0C28-3EAE-4092-BB87-7F83491F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类型白名单不含 execution_path，导入提示未知期望类型。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9A331-23C7-4AD4-B0A1-6FF69A17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支持 workflow / tool / skill 路径校验；编辑时可查看原始检查并保留。</a:t>
            </a:r>
          </a:p>
        </p:txBody>
      </p:sp>
    </p:spTree>
    <p:extLst>
      <p:ext uri="{BB962C8B-B14F-4D97-AF65-F5344CB8AC3E}">
        <p14:creationId xmlns:p14="http://schemas.microsoft.com/office/powerpoint/2010/main" val="4084340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7DBC9-1F10-465A-B122-01BD1900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FED60-B614-4167-975C-F15B982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测评集清理：仅有草稿的记录可以整体删除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F3E27-08CD-48D6-ABAE-5C1EB165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让未发布的试验资产可清理，同时保留发布版本约束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73B28-99DA-4716-A1C4-44001B6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DS10 · 两图使用同一个仅草稿状态样例；未执行任何删除。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A0E75-1AB6-48C8-A377-197E81FB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A8D62-D3C6-4116-89BA-789C0F1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EE223-5139-4E64-BFE9-2FC1ABD5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3FD40-9D44-46B8-BFE4-630BF189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27895"/>
            <a:ext cx="6781800" cy="4192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7D1C1-4521-44AE-B549-E8DE5E72E9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16fe18f514dc8"/>
          <a:srcRect xmlns:a="http://schemas.openxmlformats.org/drawingml/2006/main" l="27778" t="6000" r="27778" b="54500"/>
          <a:stretch xmlns:a="http://schemas.openxmlformats.org/drawingml/2006/main"/>
        </p:blipFill>
        <p:spPr>
          <a:xfrm xmlns:a="http://schemas.openxmlformats.org/drawingml/2006/main">
            <a:off x="666750" y="2337420"/>
            <a:ext cx="6762750" cy="417388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26693-D6DE-49A8-84A1-CF5968FD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57199"/>
            <a:ext cx="6781800" cy="393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89041-E252-4098-B135-FB0C1FDBF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49d3aa52140f3"/>
          <a:srcRect xmlns:a="http://schemas.openxmlformats.org/drawingml/2006/main" l="30208" t="6000" r="30208" b="61000"/>
          <a:stretch xmlns:a="http://schemas.openxmlformats.org/drawingml/2006/main"/>
        </p:blipFill>
        <p:spPr>
          <a:xfrm xmlns:a="http://schemas.openxmlformats.org/drawingml/2006/main">
            <a:off x="7810500" y="2466724"/>
            <a:ext cx="6762750" cy="391527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A53B6-BCF4-4D00-9327-6116CCF2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对话框提示整条记录删除尚不支持，只提供草稿清理。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F39DF-4117-48BF-B5CB-13FCF72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没有已发布版本时，可经二次确认删除整个测评集；有发布版本时仍有限制。</a:t>
            </a:r>
          </a:p>
        </p:txBody>
      </p:sp>
    </p:spTree>
    <p:extLst>
      <p:ext uri="{BB962C8B-B14F-4D97-AF65-F5344CB8AC3E}">
        <p14:creationId xmlns:p14="http://schemas.microsoft.com/office/powerpoint/2010/main" val="16692821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A3FA3-A877-47C3-BE0C-5DD1D2A9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4CD20-60A9-4938-99C9-26011827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人工标注目录：保留 V1，增加 V2 独立入口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E9A8A-2469-4FAD-9652-DA9C276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模版详情与开始标注分开，主要操作按钮风格统一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6DF21-B80B-483D-A1BF-25BDDDE7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AN01 / SH04 · 两图为隔离浏览器中的演示模版；模版与标注记录仍保存在本浏览器。 本页分别截取创建入口与模版卡片。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AC917-D29F-4DC7-A4DA-50A8E01A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3BE13-E925-49F9-AB64-6A6C691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61EB0-3861-45FC-8C47-2317BF3F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5ED32-1CC7-4426-9FC8-4E20C3DD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96881"/>
            <a:ext cx="6781800" cy="6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8716D-A9E5-47F2-92E4-8F2BB87B7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5d1af215f4865"/>
          <a:srcRect xmlns:a="http://schemas.openxmlformats.org/drawingml/2006/main" l="17014" t="8500" r="1736" b="81000"/>
          <a:stretch xmlns:a="http://schemas.openxmlformats.org/drawingml/2006/main"/>
        </p:blipFill>
        <p:spPr>
          <a:xfrm xmlns:a="http://schemas.openxmlformats.org/drawingml/2006/main">
            <a:off x="666750" y="2406406"/>
            <a:ext cx="6762750" cy="6069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41F05-80F7-4B57-973C-0BB4E765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11918"/>
            <a:ext cx="6781800" cy="595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51AD4-1029-4476-A98E-8FE954376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24e789bbf40e7"/>
          <a:srcRect xmlns:a="http://schemas.openxmlformats.org/drawingml/2006/main" l="12778" t="8500" r="1736" b="81000"/>
          <a:stretch xmlns:a="http://schemas.openxmlformats.org/drawingml/2006/main"/>
        </p:blipFill>
        <p:spPr>
          <a:xfrm xmlns:a="http://schemas.openxmlformats.org/drawingml/2006/main">
            <a:off x="7810500" y="2421443"/>
            <a:ext cx="6762750" cy="57683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C8AC5-5C5F-43E8-98B3-DD6194CA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741" y="3305175"/>
            <a:ext cx="3148768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F4976-988A-4DD2-971A-04F2DFE5ED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94b3db4fd4be3"/>
          <a:srcRect xmlns:a="http://schemas.openxmlformats.org/drawingml/2006/main" l="18264" t="39500" r="62500" b="31500"/>
          <a:stretch xmlns:a="http://schemas.openxmlformats.org/drawingml/2006/main"/>
        </p:blipFill>
        <p:spPr>
          <a:xfrm xmlns:a="http://schemas.openxmlformats.org/drawingml/2006/main">
            <a:off x="2483266" y="3314700"/>
            <a:ext cx="3129718" cy="3276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DD4AF-67D7-49EC-99A1-04279AD6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8518" y="3305175"/>
            <a:ext cx="3146714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0146F-1F81-4D28-AC69-FDF849801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c93d5704e4c0f"/>
          <a:srcRect xmlns:a="http://schemas.openxmlformats.org/drawingml/2006/main" l="14028" t="27000" r="65556" b="42200"/>
          <a:stretch xmlns:a="http://schemas.openxmlformats.org/drawingml/2006/main"/>
        </p:blipFill>
        <p:spPr>
          <a:xfrm xmlns:a="http://schemas.openxmlformats.org/drawingml/2006/main">
            <a:off x="9628043" y="3314700"/>
            <a:ext cx="3127664" cy="3276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1B96D-F6EF-49FB-8CB9-BBAA89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单一创建入口，模版卡片承担进入标注的动作。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E80AF-44A6-4A6C-8015-902786D1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V1 / V2 分别创建；V2 卡片明确提供“模版详情”和“开始标注”，按钮与测评集保持一致。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209259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D3435-61EA-448C-837C-2C901E44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36B66-90D9-4A73-828D-AA851D2B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V2 模版：由使用者选择本次标注对象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7302F-FD0B-4152-A51E-50D31AD5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关联精确 Agent 版本；对象勾选后再展开维度和标签配置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C744F-47D5-4548-A743-15B7CD0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AN02 / AN03 · 旧目录使用契约演示响应；“智能体人工标注”执行页仅有“待设计”标题，未计为已完成功能。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DCF81-8457-42E4-8980-BAB045E7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F9B62-AF01-47F8-B5D8-A766029A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F58D7-2D19-4612-B8E3-9F953CC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76EA0-24C4-4E42-B876-C31B96B1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34" y="2247900"/>
            <a:ext cx="5869781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DAA74-559D-4652-BE0F-B545577EA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566bcaa9040c1"/>
          <a:srcRect xmlns:a="http://schemas.openxmlformats.org/drawingml/2006/main" l="12500" t="6000" r="12500" b="14000"/>
          <a:stretch xmlns:a="http://schemas.openxmlformats.org/drawingml/2006/main"/>
        </p:blipFill>
        <p:spPr>
          <a:xfrm xmlns:a="http://schemas.openxmlformats.org/drawingml/2006/main">
            <a:off x="1122759" y="2257425"/>
            <a:ext cx="5850731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3F0B7-1DFB-48EB-B23D-09A30FF9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023" y="2247900"/>
            <a:ext cx="6753705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85B69-5E71-486E-AC93-A76DA5C068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0fbc36a8b450b"/>
          <a:srcRect xmlns:a="http://schemas.openxmlformats.org/drawingml/2006/main" l="12500" t="6000" r="12500" b="24500"/>
          <a:stretch xmlns:a="http://schemas.openxmlformats.org/drawingml/2006/main"/>
        </p:blipFill>
        <p:spPr>
          <a:xfrm xmlns:a="http://schemas.openxmlformats.org/drawingml/2006/main">
            <a:off x="7824548" y="2257425"/>
            <a:ext cx="6734655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334C8-8561-495C-9A97-ECE7392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关联智能体为单一下拉；消息、工具评分区固定展示，默认范围 0–5。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46D6D-5C40-4D61-A909-799404C9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按分支/版本定位待标注会话；测评集、评估器、智能体对象可分别开关，V2 默认 0–100。</a:t>
            </a:r>
          </a:p>
        </p:txBody>
      </p:sp>
    </p:spTree>
    <p:extLst>
      <p:ext uri="{BB962C8B-B14F-4D97-AF65-F5344CB8AC3E}">
        <p14:creationId xmlns:p14="http://schemas.microsoft.com/office/powerpoint/2010/main" val="6401732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6B6C2-2347-4A38-9DBB-A431E34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3256C-872B-45B4-84F1-633D8B91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V2 会话列表：让优先级判断发生在列表中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E403F-247F-4BF8-92A4-1B5F2DE2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增加测评任务、综合分和测评时间；过滤控件按需打开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0CB7A-26AC-4516-B882-6206167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AN04 / AN05 / AN06 · Bad Case 依据主评估器失败、错误或待复核判定，不是人为设置的低分阈值。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118EE-E799-48F5-A6E7-BB85E77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36072-48D6-440C-A223-2236DF5C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8ABB5-7EA7-4A8C-AD13-9F86CFB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12490"/>
            <a:ext cx="9448800" cy="1690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4927F-5AF7-4CFC-B3C9-A9C93394C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04699da8a4ae4"/>
          <a:srcRect xmlns:a="http://schemas.openxmlformats.org/drawingml/2006/main" l="16667" t="40000" r="1042" b="39000"/>
          <a:stretch xmlns:a="http://schemas.openxmlformats.org/drawingml/2006/main"/>
        </p:blipFill>
        <p:spPr>
          <a:xfrm xmlns:a="http://schemas.openxmlformats.org/drawingml/2006/main">
            <a:off x="666750" y="2522015"/>
            <a:ext cx="9429750" cy="167109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E68AA-C3A7-4E56-A86F-A2692AF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7DBBD-5C27-422F-81D7-3D453DC2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97403"/>
            <a:ext cx="9448800" cy="1644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5121A-B06B-496D-B351-322E30EE3C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a67ff117d4ea7"/>
          <a:srcRect xmlns:a="http://schemas.openxmlformats.org/drawingml/2006/main" l="12361" t="39500" r="1042" b="39000"/>
          <a:stretch xmlns:a="http://schemas.openxmlformats.org/drawingml/2006/main"/>
        </p:blipFill>
        <p:spPr>
          <a:xfrm xmlns:a="http://schemas.openxmlformats.org/drawingml/2006/main">
            <a:off x="666750" y="5506928"/>
            <a:ext cx="9429750" cy="162581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59EF7-DF11-488D-B2D6-861FF69C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812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1537F-41D4-4E46-92E1-86968BB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38450"/>
            <a:ext cx="3905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移除消息数和进度，显示任务、综合分与测评时间。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43959-B5EE-4D11-B105-A2EEF127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100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5F16D-E1B5-42DF-A5E0-35707C04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67225"/>
            <a:ext cx="3905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列头小图标打开筛选；分数支持区间和 Bad Case。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00C8E-A89A-4F3A-8370-4E792766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388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FB227-E740-4385-8F91-B61AC9E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905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开始标注 / 免标注同排，操作列保持末位，可恢复标注。</a:t>
            </a:r>
          </a:p>
        </p:txBody>
      </p:sp>
    </p:spTree>
    <p:extLst>
      <p:ext uri="{BB962C8B-B14F-4D97-AF65-F5344CB8AC3E}">
        <p14:creationId xmlns:p14="http://schemas.microsoft.com/office/powerpoint/2010/main" val="19429290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C0AF6-7999-4F90-8059-66F24D9A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5A714-6362-463B-BE3B-A09DCA4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V2 筛选：分数区间与 Bad Case 放在同一处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F9C7E-D8EB-40F2-A24C-4D0D596A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默认不占据页面空间，单列与全部筛选均可清空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4C0BB-AE99-437F-A5F6-AE557691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AN05 · 本页补充 AN05 的交互证据，不重复计数；演示筛选未修改会话或标注。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C6DC2-A607-4E03-83A3-C600820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FF9E7-4A67-4E31-9ED2-CDCA690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09340-BFA9-407D-87DD-5FF42238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94482-AE74-4615-91E2-67B808DD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4199"/>
            <a:ext cx="6781800" cy="1220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E2B04-1CD1-4363-85E4-3F31BD5DD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e6387129344e1"/>
          <a:srcRect xmlns:a="http://schemas.openxmlformats.org/drawingml/2006/main" l="16667" t="39000" r="30556" b="47500"/>
          <a:stretch xmlns:a="http://schemas.openxmlformats.org/drawingml/2006/main"/>
        </p:blipFill>
        <p:spPr>
          <a:xfrm xmlns:a="http://schemas.openxmlformats.org/drawingml/2006/main">
            <a:off x="666750" y="3823724"/>
            <a:ext cx="6762750" cy="12012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E9F6E-9582-4901-B0C9-ABDB30CC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424" y="2247900"/>
            <a:ext cx="5140902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18964-E7B2-4303-8A7A-044048F2A1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67b7780dd4f4e"/>
          <a:srcRect xmlns:a="http://schemas.openxmlformats.org/drawingml/2006/main" l="34028" t="38500" r="29861" b="17500"/>
          <a:stretch xmlns:a="http://schemas.openxmlformats.org/drawingml/2006/main"/>
        </p:blipFill>
        <p:spPr>
          <a:xfrm xmlns:a="http://schemas.openxmlformats.org/drawingml/2006/main">
            <a:off x="8630949" y="2257425"/>
            <a:ext cx="5121852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56628-85DC-4F82-B941-106C772C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会话搜索与状态下拉常驻；缺少综合分和任务筛选。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53269-1333-4E07-9491-6AF6CD1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点列头图标展开筛选；区间、Bad Case 和清空动作集中在弹层。</a:t>
            </a:r>
          </a:p>
        </p:txBody>
      </p:sp>
    </p:spTree>
    <p:extLst>
      <p:ext uri="{BB962C8B-B14F-4D97-AF65-F5344CB8AC3E}">
        <p14:creationId xmlns:p14="http://schemas.microsoft.com/office/powerpoint/2010/main" val="1266315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99EAF-FAE4-402F-9D89-BA6E961F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8ECCD-2875-42E7-BABF-EB19F68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会话标注：左侧证据，右侧录入意见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D018F-8388-4676-855F-777704BD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V2 测评集标注把用户输入、实际回答、期望回答放在同一对照区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F4933-AD41-4AD6-9F31-5063CF2B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AN07 · 两图为同一个模拟样本；右侧意见不会自动影响已有自动评分结果。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A63C2-664C-419F-9CE8-0682779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99101-DB12-425E-8EB8-12545CB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DBC84-02A3-4ADB-84AB-CB19D60D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2A2BC-6D56-4BC8-84C3-9FC14387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26635"/>
            <a:ext cx="6781800" cy="399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95E33-EB63-40F0-A3ED-ED7B63855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52c991efd4f6f"/>
          <a:srcRect xmlns:a="http://schemas.openxmlformats.org/drawingml/2006/main" l="16528" t="24000" r="1389" b="6500"/>
          <a:stretch xmlns:a="http://schemas.openxmlformats.org/drawingml/2006/main"/>
        </p:blipFill>
        <p:spPr>
          <a:xfrm xmlns:a="http://schemas.openxmlformats.org/drawingml/2006/main">
            <a:off x="666750" y="2436160"/>
            <a:ext cx="6762750" cy="39764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EB702-E402-4502-BEEF-D93EBBD1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63521"/>
            <a:ext cx="6781800" cy="3721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6AA66-55B9-4343-BA79-FACCC0059B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1618d423b45fe"/>
          <a:srcRect xmlns:a="http://schemas.openxmlformats.org/drawingml/2006/main" l="12361" t="24500" r="1389" b="7500"/>
          <a:stretch xmlns:a="http://schemas.openxmlformats.org/drawingml/2006/main"/>
        </p:blipFill>
        <p:spPr>
          <a:xfrm xmlns:a="http://schemas.openxmlformats.org/drawingml/2006/main">
            <a:off x="7810500" y="2573046"/>
            <a:ext cx="6762750" cy="370263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736A3-E37A-481F-9FE7-D6E85CD2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消息评分围绕输入、实际回答；原始期望未完整呈现在证据区。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C0618-2A3F-4912-9DDF-8D2C3DD8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按轮次与勾选对象组织内容；紧凑分数框、单行评语和修订期望便于并排核对。</a:t>
            </a:r>
          </a:p>
        </p:txBody>
      </p:sp>
    </p:spTree>
    <p:extLst>
      <p:ext uri="{BB962C8B-B14F-4D97-AF65-F5344CB8AC3E}">
        <p14:creationId xmlns:p14="http://schemas.microsoft.com/office/powerpoint/2010/main" val="2787843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AA415-1061-42C3-80A2-F6FA8D51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26A0-9FDD-4378-90F3-194D16E5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V1 工具标注：逐调用评分与证据入口已接通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DD4A1-CDFD-4E96-94A5-A1617657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不再只有模版中的工具维度配置，实际会话也有工具评分区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97B60-2DD3-45A9-8920-06E2A00E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AN08 · 此历史 Trace 部分参数/返回值缺失；展开原始属性可查看已有证据，不能把“—”视为完整采集。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B3B72-5D04-4715-8AA1-6D3ECC00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465D0-8DF1-4B54-851C-E914DBB4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497FE-722B-4ED5-8228-287904EF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C3802-EA29-44B0-A4FA-FDA69127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0" y="2247900"/>
            <a:ext cx="6422350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71059-3C6D-4C20-806A-2910D9D37D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b9ca9d98e42fa"/>
          <a:srcRect xmlns:a="http://schemas.openxmlformats.org/drawingml/2006/main" l="16528" t="12500" r="1389" b="7500"/>
          <a:stretch xmlns:a="http://schemas.openxmlformats.org/drawingml/2006/main"/>
        </p:blipFill>
        <p:spPr>
          <a:xfrm xmlns:a="http://schemas.openxmlformats.org/drawingml/2006/main">
            <a:off x="846475" y="2257425"/>
            <a:ext cx="6403300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7ABBF-F0BE-43A9-857C-FDED99B3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378" y="2247900"/>
            <a:ext cx="6426994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2D2C2-2DF0-4333-A827-451108F49C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bfb4ace5c4ec6"/>
          <a:srcRect xmlns:a="http://schemas.openxmlformats.org/drawingml/2006/main" l="12361" t="8500" r="1389" b="7500"/>
          <a:stretch xmlns:a="http://schemas.openxmlformats.org/drawingml/2006/main"/>
        </p:blipFill>
        <p:spPr>
          <a:xfrm xmlns:a="http://schemas.openxmlformats.org/drawingml/2006/main">
            <a:off x="7987903" y="2257425"/>
            <a:ext cx="6407944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2C972-FF27-4F95-9876-84FF5FFF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相同贷款会话只呈现消息标注，无法按具体调用填写工具评分。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FFB5C-5007-4144-8749-5C05DF48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每次工具调用可评分、打标签、写评语，并设置必须/禁止调用及参数规则。</a:t>
            </a:r>
          </a:p>
        </p:txBody>
      </p:sp>
    </p:spTree>
    <p:extLst>
      <p:ext uri="{BB962C8B-B14F-4D97-AF65-F5344CB8AC3E}">
        <p14:creationId xmlns:p14="http://schemas.microsoft.com/office/powerpoint/2010/main" val="16762033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A357F-A1AE-43CF-9817-9729A60A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20322-5DAF-4D66-98B5-1B02BFC3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V2 规则评估器标注：审阅判定依据与关键代码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921E5-CE09-4273-B574-1E86D48B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默认折叠每个评估器，左右证据与人工意见同步展开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EC54F-ADEA-4020-8AD8-2358184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AN09 · 旧版最近对应页见第 25 页。关键代码来自当前服务的对应实现，不等于历史运行源码快照。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8B46B-6598-4C0D-B10B-97227AC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08B0F-0281-4001-818A-C43595D0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FD4CD-923E-4ED6-B305-7D761745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77BEF-A49E-4B7C-AAFD-EC6D30D0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26635"/>
            <a:ext cx="6781800" cy="399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0FD4C-D430-44CF-B531-351A51777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5617320424acf"/>
          <a:srcRect xmlns:a="http://schemas.openxmlformats.org/drawingml/2006/main" l="16528" t="24000" r="1389" b="6500"/>
          <a:stretch xmlns:a="http://schemas.openxmlformats.org/drawingml/2006/main"/>
        </p:blipFill>
        <p:spPr>
          <a:xfrm xmlns:a="http://schemas.openxmlformats.org/drawingml/2006/main">
            <a:off x="666750" y="2436160"/>
            <a:ext cx="6762750" cy="39764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B9EF3-C3AD-4866-A5B9-F8B96C2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068" y="2247900"/>
            <a:ext cx="645561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E07BD-551B-4F01-AA6C-79F507087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b6849ab6e4b77"/>
          <a:srcRect xmlns:a="http://schemas.openxmlformats.org/drawingml/2006/main" l="12361" t="8000" r="1389" b="45500"/>
          <a:stretch xmlns:a="http://schemas.openxmlformats.org/drawingml/2006/main"/>
        </p:blipFill>
        <p:spPr>
          <a:xfrm xmlns:a="http://schemas.openxmlformats.org/drawingml/2006/main">
            <a:off x="7973593" y="2257425"/>
            <a:ext cx="6436565" cy="24098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554C9-7B3B-4396-8E25-30D06991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157" y="4752975"/>
            <a:ext cx="657143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46046-E842-4937-B66F-E6650322B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0320d42c74c5d"/>
          <a:srcRect xmlns:a="http://schemas.openxmlformats.org/drawingml/2006/main" l="13750" t="63000" r="39722" b="18300"/>
          <a:stretch xmlns:a="http://schemas.openxmlformats.org/drawingml/2006/main"/>
        </p:blipFill>
        <p:spPr>
          <a:xfrm xmlns:a="http://schemas.openxmlformats.org/drawingml/2006/main">
            <a:off x="7915682" y="4762500"/>
            <a:ext cx="6552385" cy="1828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1B1D1-F4EA-4298-A92D-3CDB77B2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旧版提供消息评分，缺少本次评估器的证据与规则代码审阅区。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58DB8-74AF-4E23-8322-4F492710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展开后展示结果、期望与实际、完整证据和规则关键代码，右侧对应人工评分。</a:t>
            </a:r>
          </a:p>
        </p:txBody>
      </p:sp>
    </p:spTree>
    <p:extLst>
      <p:ext uri="{BB962C8B-B14F-4D97-AF65-F5344CB8AC3E}">
        <p14:creationId xmlns:p14="http://schemas.microsoft.com/office/powerpoint/2010/main" val="5003770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BA8D5-ECD0-4FCA-8AFC-8528D526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AD0A2-FE91-4F82-8939-7C471FAA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V2 LLM 标注：检查完整证据并录入优化提示词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BCD90-882B-48C5-934D-19BA9FA1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区分实际留存与重建来源，把评审过程显式呈现给检查者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338C8-5815-4F9A-BED3-F4FA9789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AN10 · 右图为明确的 API 演示响应，未调用真实 LLM，也不是该历史运行的实际评估。优化提示词尚未自动发布或重跑。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16146-CCCF-4F03-9233-4EF59794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8B17C-7F64-4643-B957-1097043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A1ED1-1B0B-4FD4-9AD5-90F4B31A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1ACE2-BE88-4735-AE54-89B71FA3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151" y="2247900"/>
            <a:ext cx="3711949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B7881-5688-4667-B8A9-F42259EF2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e659a07c74ff3"/>
          <a:srcRect xmlns:a="http://schemas.openxmlformats.org/drawingml/2006/main" l="63056" t="24000" r="1736" b="16500"/>
          <a:stretch xmlns:a="http://schemas.openxmlformats.org/drawingml/2006/main"/>
        </p:blipFill>
        <p:spPr>
          <a:xfrm xmlns:a="http://schemas.openxmlformats.org/drawingml/2006/main">
            <a:off x="2201676" y="2257425"/>
            <a:ext cx="3692899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CC6E9-E549-42A0-B9D7-6A1C12C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337" y="2247900"/>
            <a:ext cx="6389077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8E975-1672-450F-98DA-EFBD47337A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5cb6fa9b94e03"/>
          <a:srcRect xmlns:a="http://schemas.openxmlformats.org/drawingml/2006/main" l="12361" t="8000" r="1389" b="7500"/>
          <a:stretch xmlns:a="http://schemas.openxmlformats.org/drawingml/2006/main"/>
        </p:blipFill>
        <p:spPr>
          <a:xfrm xmlns:a="http://schemas.openxmlformats.org/drawingml/2006/main">
            <a:off x="8006862" y="2257425"/>
            <a:ext cx="6370027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0EA05-69ED-438F-8041-88042181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旧版仅有消息层评分，缺少 LLM 评估请求、响应和提示词审阅入口。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601AB-6031-4B1C-BB67-E7FE1644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展示系统提示词、输入证据与响应；右侧可录入优化后的提示词并随标注保存。</a:t>
            </a:r>
          </a:p>
        </p:txBody>
      </p:sp>
    </p:spTree>
    <p:extLst>
      <p:ext uri="{BB962C8B-B14F-4D97-AF65-F5344CB8AC3E}">
        <p14:creationId xmlns:p14="http://schemas.microsoft.com/office/powerpoint/2010/main" val="15228944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039B2-D285-45BE-B6A2-A0424AB6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486DB-0F01-4B7B-BA69-8FB8FEFB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标注反馈：导出新草稿，或回写原测评集期望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D2A95-8A74-41ED-9E27-7A5A90E0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两个出口位于测评集人工标注区底部，写入前先预览变化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C77A4-6E7B-4D50-97CA-BB636654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AN11 / AN12 · 右图展示测评集模块底部入口与导出预览。未点击确认；标注本体仍在浏览器中。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DE26F-6676-42E8-89CA-EB4FAE44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83418-4333-457A-9E9A-1CAAC1B5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A711B-3BDC-4155-A19D-4431ABFC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E5BAA-362D-489C-8AAA-7F86078D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80718"/>
            <a:ext cx="6781800" cy="3887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7827F-AB9D-4C83-B9F8-05700C466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1d24fd50044a8"/>
          <a:srcRect xmlns:a="http://schemas.openxmlformats.org/drawingml/2006/main" l="63056" t="65000" r="1736" b="6000"/>
          <a:stretch xmlns:a="http://schemas.openxmlformats.org/drawingml/2006/main"/>
        </p:blipFill>
        <p:spPr>
          <a:xfrm xmlns:a="http://schemas.openxmlformats.org/drawingml/2006/main">
            <a:off x="666750" y="2490243"/>
            <a:ext cx="6762750" cy="386824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1B579-0B17-4036-95E1-517A087D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371" y="2247900"/>
            <a:ext cx="5249008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2F83B-6977-4BAB-9798-88DFDC342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39cdf587546bb"/>
          <a:srcRect xmlns:a="http://schemas.openxmlformats.org/drawingml/2006/main" l="12361" t="87400" r="64583" b="7400"/>
          <a:stretch xmlns:a="http://schemas.openxmlformats.org/drawingml/2006/main"/>
        </p:blipFill>
        <p:spPr>
          <a:xfrm xmlns:a="http://schemas.openxmlformats.org/drawingml/2006/main">
            <a:off x="8576896" y="2257425"/>
            <a:ext cx="5229958" cy="819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24A47-D92C-4350-9534-5379117E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877" y="3200400"/>
            <a:ext cx="3721997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D44EF-4305-4AE0-9B40-54F2F649C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d428f1eef4416"/>
          <a:srcRect xmlns:a="http://schemas.openxmlformats.org/drawingml/2006/main" l="23611" t="6000" r="23611" b="24600"/>
          <a:stretch xmlns:a="http://schemas.openxmlformats.org/drawingml/2006/main"/>
        </p:blipFill>
        <p:spPr>
          <a:xfrm xmlns:a="http://schemas.openxmlformats.org/drawingml/2006/main">
            <a:off x="9340402" y="3209925"/>
            <a:ext cx="3702947" cy="3381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40C4E-DBEE-4CDA-9B57-5650CD21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旧版只有保存标注，意见留在浏览器中，</a:t>
            </a:r>
          </a:p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没有生成或回写测评集的出口。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27BAC-6523-4796-B2D6-B52EDD60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新增两个草稿出口，写入前预览内容。</a:t>
            </a:r>
          </a:p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回写时校验样本、轮次和冲突，</a:t>
            </a:r>
          </a:p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不会直接修改已发布版本。</a:t>
            </a:r>
          </a:p>
        </p:txBody>
      </p:sp>
    </p:spTree>
    <p:extLst>
      <p:ext uri="{BB962C8B-B14F-4D97-AF65-F5344CB8AC3E}">
        <p14:creationId xmlns:p14="http://schemas.microsoft.com/office/powerpoint/2010/main" val="16062779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92C90-012C-45C9-A66B-2587CE80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E8ACA-7E52-4237-AA02-19CCB3E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LLM 设计保存：从页内暂存变为后端草稿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EB769-5F3C-4433-A445-FD2029CB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保存动作现在有明确的持久化语义，可重新进入并继续编辑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AFA17-D89F-4E03-957E-03507226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EV01 · 截图为相同演示设计的未提交编辑态；持久化结论由保存/读取接口实现与既有浏览器测试支撑。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216FF-6911-41CA-AE6D-EACBE9A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F00AB-CE9C-4417-8C5F-914F6B60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2516B-48BC-4294-9E0F-FEB36F3F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BA614-BF8C-4424-8FDE-755934F4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91" y="2247900"/>
            <a:ext cx="6322868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80E98-52E3-4044-859E-D99C5BCCE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6accc68d14796"/>
          <a:srcRect xmlns:a="http://schemas.openxmlformats.org/drawingml/2006/main" l="5556" t="6000" r="5556" b="6000"/>
          <a:stretch xmlns:a="http://schemas.openxmlformats.org/drawingml/2006/main"/>
        </p:blipFill>
        <p:spPr>
          <a:xfrm xmlns:a="http://schemas.openxmlformats.org/drawingml/2006/main">
            <a:off x="896216" y="2257425"/>
            <a:ext cx="6303818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2F030-CB5A-487B-BFD5-DBA60EF4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47900"/>
            <a:ext cx="4352925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FEAFF-BA26-4CB7-B5EB-0196A94B8E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01bd8d26941ac"/>
          <a:srcRect xmlns:a="http://schemas.openxmlformats.org/drawingml/2006/main" l="22222" t="6000" r="22222" b="14000"/>
          <a:stretch xmlns:a="http://schemas.openxmlformats.org/drawingml/2006/main"/>
        </p:blipFill>
        <p:spPr>
          <a:xfrm xmlns:a="http://schemas.openxmlformats.org/drawingml/2006/main">
            <a:off x="9024938" y="2257425"/>
            <a:ext cx="4333875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51186-E247-406E-8EDE-A3F2AD7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“保存 UX 设计”只更新页内数组，刷新后清除。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659B7-4EA3-4B06-9C64-E867D572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“保存”写入后端草稿，保留模型、范围、阈值、维度提示词和权重；错误时保留编辑内容。</a:t>
            </a:r>
          </a:p>
        </p:txBody>
      </p:sp>
    </p:spTree>
    <p:extLst>
      <p:ext uri="{BB962C8B-B14F-4D97-AF65-F5344CB8AC3E}">
        <p14:creationId xmlns:p14="http://schemas.microsoft.com/office/powerpoint/2010/main" val="13690559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13FF9-DB91-4BA8-9A78-D22696FF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9F5F2-C5D3-417B-B6FF-D35B41F7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LLM 发布与追溯：区分草稿、固定版本和运行配置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68E35-7122-4A0D-9D8B-CBD4105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发布启用后可选入测评；旧版本只读，后续修改从新草稿开始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414F3-021C-4BB9-8811-2DFBEF5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2480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EV02 / EV03 · 发布版本为 GET 样例，未发布真实资产；历史与运行配置追溯另经代码核验，发布不等于模型连通。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DCFC4-1BD8-49DC-A6C7-07F8EE1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874FB-CABC-4E3E-9E6B-49CE9E0E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旧工程 · 915-NH-WEB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1DE8F-FCBA-49F8-B3E9-F31A94F6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当前工程 · AgentGate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06419-FF97-4BEA-B6AF-67446920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91" y="2247900"/>
            <a:ext cx="6322868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86BC7-4003-4D03-A604-6F886AB5AA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6f360f4b64824"/>
          <a:srcRect xmlns:a="http://schemas.openxmlformats.org/drawingml/2006/main" l="5556" t="6000" r="5556" b="6000"/>
          <a:stretch xmlns:a="http://schemas.openxmlformats.org/drawingml/2006/main"/>
        </p:blipFill>
        <p:spPr>
          <a:xfrm xmlns:a="http://schemas.openxmlformats.org/drawingml/2006/main">
            <a:off x="896216" y="2257425"/>
            <a:ext cx="6303818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1191A-3B06-4004-9FFB-E64D90E7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47900"/>
            <a:ext cx="4352925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FDE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597C1-5AE5-459F-B709-085895712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77fbb38954dd8"/>
          <a:srcRect xmlns:a="http://schemas.openxmlformats.org/drawingml/2006/main" l="22222" t="6000" r="22222" b="14000"/>
          <a:stretch xmlns:a="http://schemas.openxmlformats.org/drawingml/2006/main"/>
        </p:blipFill>
        <p:spPr>
          <a:xfrm xmlns:a="http://schemas.openxmlformats.org/drawingml/2006/main">
            <a:off x="9024938" y="2257425"/>
            <a:ext cx="4333875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B2DB3-9D31-4316-90E9-B911E86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旧版仅保留本页临时设计和 UX 历史，可导出 JSON，但不能成为已发布评估器。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FE498-4A5B-4F98-8A4B-B7A7EAD4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91325"/>
            <a:ext cx="676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83F48"/>
                </a:solidFill>
                <a:latin typeface="Arial Unicode MS"/>
                <a:ea typeface="Arial Unicode MS"/>
                <a:cs typeface="Arial Unicode MS"/>
              </a:rPr>
              <a:t>后端草稿可发布启用；已发布配置只读，可查历史并创建新草稿。任务固定所选版本并展示维度与权重。</a:t>
            </a:r>
          </a:p>
        </p:txBody>
      </p:sp>
    </p:spTree>
    <p:extLst>
      <p:ext uri="{BB962C8B-B14F-4D97-AF65-F5344CB8AC3E}">
        <p14:creationId xmlns:p14="http://schemas.microsoft.com/office/powerpoint/2010/main" val="7227134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803CF-028E-4F77-9490-EFBBE982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17BB1-E001-4121-BAD5-13774DB7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待补齐事项与建议验收标准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DF0ED-2FBD-43BD-9E89-457DA677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这些问题未计为改进；截图与代码已能定位，建议列入下一轮验收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E72E0-6A98-46C2-83FB-C263E56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A3901-1808-438C-9497-74B41EA5ED83}"/>
              </a:ext>
            </a:extLst>
          </p:cNvPr>
          <p:cNvGraphicFramePr/>
          <p:nvPr/>
        </p:nvGraphicFramePr>
        <p:xfrm>
          <a:off xmlns:a="http://schemas.openxmlformats.org/drawingml/2006/main" x="666750" y="2105025"/>
          <a:ext xmlns:a="http://schemas.openxmlformats.org/drawingml/2006/main" cx="13906500" cy="514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6572250"/>
                <a:gridCol w="61912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优先级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需要补齐的事项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建议验收标准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任务列表缺少全部历史、任意日期和状态筛选；勾选框无批量导出入口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任意历史记录可找回；筛选与批量动作成套恢复</a:t>
                      </a:r>
                    </a:p>
                  </a:txBody>
                  <a:tcPr marL="133350" marR="133350" marT="114300" marB="95250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模版与人工标注仍在 localStorage；智能体标注仅待设计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明确协作与后端存储方案；区分占位和可交付能力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中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路径检查导入预览计数遗漏；关联信息和标签不随测评集保存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预览计数准确；持久化范围在表单和接口中一致</a:t>
                      </a:r>
                    </a:p>
                  </a:txBody>
                  <a:tcPr marL="133350" marR="133350" marT="114300" marB="95250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中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Trace 部分历史字段缺失；规则源码非历史快照；LLM 调用依赖环境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标明证据缺失与来源；用真实接入环境完成独立验收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F76FE-6415-4A9E-BB79-2BC08136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00950"/>
            <a:ext cx="1371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体验权衡：弹窗变窄会增加滚动；输入字段简化会减少高级用户的直接编辑入口。</a:t>
            </a:r>
          </a:p>
        </p:txBody>
      </p:sp>
    </p:spTree>
    <p:extLst>
      <p:ext uri="{BB962C8B-B14F-4D97-AF65-F5344CB8AC3E}">
        <p14:creationId xmlns:p14="http://schemas.microsoft.com/office/powerpoint/2010/main" val="20183613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1B219-9413-4557-BC41-57363E1D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19585-0ED7-4B2D-B1E8-0B1B42B6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页面索引与统计核对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59759-E6AF-4663-A1A8-61E71E84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390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详细清单、源码位置与截图元数据随交付保留；PPT 备注附页面级依据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170C5-3EF7-4822-BD2F-0AFA086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1248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1767B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7E399-4E2C-4870-96F3-79DD20D9C1D9}"/>
              </a:ext>
            </a:extLst>
          </p:cNvPr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39065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619250"/>
                <a:gridCol w="9525000"/>
              </a:tblGrid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阅读主题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页码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本次明确保留的原有能力</a:t>
                      </a:r>
                    </a:p>
                  </a:txBody>
                  <a:tcPr marL="133350" marR="133350" marT="114300" marB="95250">
                    <a:solidFill>
                      <a:srgbClr val="163C39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入口、总览与任务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4–14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A/B、稳定性、静态分析、调优并非本次从零新增</a:t>
                      </a:r>
                    </a:p>
                  </a:txBody>
                  <a:tcPr marL="133350" marR="133350" marT="114300" marB="95250"/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测评集与样本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15–20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命名、卡片、版本、导入导出、多轮、工具/Skill 检查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人工标注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21–29</a:t>
                      </a:r>
                    </a:p>
                  </a:txBody>
                  <a:tcPr marL="133350" marR="133350" marT="114300" marB="9525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V1 保留；V2 是新增对应工作流，不是覆盖旧页面</a:t>
                      </a:r>
                    </a:p>
                  </a:txBody>
                  <a:tcPr marL="133350" marR="133350" marT="114300" marB="95250"/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LLM 评估器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30–31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83F4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已有模型选择与内置评估器；本次补持久化/发布闭环</a:t>
                      </a:r>
                    </a:p>
                  </a:txBody>
                  <a:tcPr marL="133350" marR="133350" marT="114300" marB="95250"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EE222-19F3-424A-A46A-8F32555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770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63C39"/>
                </a:solidFill>
                <a:latin typeface="Arial Unicode MS"/>
                <a:ea typeface="Arial Unicode MS"/>
                <a:cs typeface="Arial Unicode MS"/>
              </a:rPr>
              <a:t>计数核对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9B83C-3E40-468F-AB40-D78FE322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05802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6 + 3 + 10 + 10 + 12 + 3 + 7 = 51</a:t>
            </a:r>
          </a:p>
          <a:p xmlns:a="http://schemas.openxmlformats.org/drawingml/2006/main">
            <a:pPr>
              <a:defRPr sz="217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F80"/>
                </a:solidFill>
                <a:latin typeface="Arial Unicode MS"/>
                <a:ea typeface="Arial Unicode MS"/>
                <a:cs typeface="Arial Unicode MS"/>
              </a:rPr>
              <a:t>17 新增 + 18 增强 + 16 体验调整 = 51</a:t>
            </a:r>
          </a:p>
        </p:txBody>
      </p:sp>
    </p:spTree>
    <p:extLst>
      <p:ext uri="{BB962C8B-B14F-4D97-AF65-F5344CB8AC3E}">
        <p14:creationId xmlns:p14="http://schemas.microsoft.com/office/powerpoint/2010/main" val="1233835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2026-10-09T02:36:38.0950000Z</dcterms:created>
  <dcterms:modified xsi:type="dcterms:W3CDTF">2026-10-09T02:36:38.0950000Z</dcterms:modified>
</coreProperties>
</file>